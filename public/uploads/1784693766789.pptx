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Inter" panose="020B0604020202020204" charset="0"/>
      <p:regular r:id="rId19"/>
    </p:embeddedFont>
    <p:embeddedFont>
      <p:font typeface="Inter Bold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51715" autoAdjust="0"/>
  </p:normalViewPr>
  <p:slideViewPr>
    <p:cSldViewPr>
      <p:cViewPr>
        <p:scale>
          <a:sx n="25" d="100"/>
          <a:sy n="25" d="100"/>
        </p:scale>
        <p:origin x="1740" y="-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12.06.2026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GB" dirty="0"/>
              <a:t>My presentation is titled “Peak Demand Risk Forecasting and Generation Planning Support for CEB.”</a:t>
            </a:r>
          </a:p>
          <a:p>
            <a:r>
              <a:rPr lang="en-GB" dirty="0"/>
              <a:t>This is a Decision Analytics case study based on the Ceylon Electricity Board in Sri Lanka. The focus of this</a:t>
            </a:r>
          </a:p>
          <a:p>
            <a:r>
              <a:rPr lang="en-GB" dirty="0"/>
              <a:t>presentation is not only on building a machine learning model, but on understanding how analytics can</a:t>
            </a:r>
          </a:p>
          <a:p>
            <a:r>
              <a:rPr lang="en-GB" dirty="0"/>
              <a:t>support an important planning decision.</a:t>
            </a:r>
          </a:p>
          <a:p>
            <a:endParaRPr lang="en-GB" dirty="0"/>
          </a:p>
          <a:p>
            <a:r>
              <a:rPr lang="en-GB" dirty="0"/>
              <a:t>The selected problem is short-term peak-demand risk forecasting and generation planning support. In</a:t>
            </a:r>
          </a:p>
          <a:p>
            <a:r>
              <a:rPr lang="en-GB" dirty="0"/>
              <a:t>simple terms, the question is: how can CEB identify days where electricity demand may become risky, early</a:t>
            </a:r>
          </a:p>
          <a:p>
            <a:r>
              <a:rPr lang="en-GB" dirty="0"/>
              <a:t>enough for planners to prepare?</a:t>
            </a:r>
          </a:p>
          <a:p>
            <a:endParaRPr lang="en-GB" dirty="0"/>
          </a:p>
          <a:p>
            <a:r>
              <a:rPr lang="en-GB" dirty="0"/>
              <a:t>The presentation will move through the problem in a structured way. First, I will explain the CEB planning</a:t>
            </a:r>
          </a:p>
          <a:p>
            <a:r>
              <a:rPr lang="en-GB" dirty="0"/>
              <a:t>environment. Then I will show the evidence behind the selected problem. After that, I will explain the</a:t>
            </a:r>
          </a:p>
          <a:p>
            <a:r>
              <a:rPr lang="en-GB" dirty="0"/>
              <a:t>planning problem, the proposed decision-support flow, the dataset used, the model and evaluation, and</a:t>
            </a:r>
          </a:p>
          <a:p>
            <a:r>
              <a:rPr lang="en-GB" dirty="0"/>
              <a:t>finally the recommended next step.</a:t>
            </a:r>
          </a:p>
          <a:p>
            <a:endParaRPr lang="en-GB" dirty="0"/>
          </a:p>
          <a:p>
            <a:r>
              <a:rPr lang="en-GB" dirty="0"/>
              <a:t>The main idea I want to communicate is that decision analytics should support CEB planners with earlier</a:t>
            </a:r>
          </a:p>
          <a:p>
            <a:r>
              <a:rPr lang="en-GB" dirty="0"/>
              <a:t>and clearer signals, but it should not replace engineering judgement.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GB" dirty="0"/>
              <a:t>2 CEB operates in a planning environment where electricity demand and generation must be balanced</a:t>
            </a:r>
          </a:p>
          <a:p>
            <a:r>
              <a:rPr lang="en-GB" dirty="0"/>
              <a:t>continuously.</a:t>
            </a:r>
          </a:p>
          <a:p>
            <a:r>
              <a:rPr lang="en-GB" dirty="0"/>
              <a:t>This is different from many ordinary business problems. For example, in a retail business, if demand</a:t>
            </a:r>
          </a:p>
          <a:p>
            <a:r>
              <a:rPr lang="en-GB" dirty="0"/>
              <a:t>increases, the company may respond after seeing sales. But electricity planning is more time-sensitive.</a:t>
            </a:r>
          </a:p>
          <a:p>
            <a:r>
              <a:rPr lang="en-GB" dirty="0"/>
              <a:t>Generation must be prepared before demand occurs, because demand and supply need to remain</a:t>
            </a:r>
          </a:p>
          <a:p>
            <a:r>
              <a:rPr lang="en-GB" dirty="0"/>
              <a:t>balanced across the grid.</a:t>
            </a:r>
          </a:p>
          <a:p>
            <a:endParaRPr lang="en-GB" dirty="0"/>
          </a:p>
          <a:p>
            <a:r>
              <a:rPr lang="en-GB" dirty="0"/>
              <a:t>This creates a strong planning challenge. If demand is underestimated, there can be reliability pressure. If</a:t>
            </a:r>
          </a:p>
          <a:p>
            <a:r>
              <a:rPr lang="en-GB" dirty="0"/>
              <a:t>demand is overestimated, generation preparation may become inefficient and costly. Therefore, </a:t>
            </a:r>
            <a:r>
              <a:rPr lang="en-GB" dirty="0" err="1"/>
              <a:t>peakdemand</a:t>
            </a:r>
            <a:r>
              <a:rPr lang="en-GB" dirty="0"/>
              <a:t> forecasting is not just a technical forecasting task. It directly supports generation planning</a:t>
            </a:r>
          </a:p>
          <a:p>
            <a:r>
              <a:rPr lang="en-GB" dirty="0"/>
              <a:t>decisions.</a:t>
            </a:r>
          </a:p>
          <a:p>
            <a:endParaRPr lang="en-GB" dirty="0"/>
          </a:p>
          <a:p>
            <a:r>
              <a:rPr lang="en-GB" dirty="0"/>
              <a:t>The slide shows the basic relationship: demand, grid balance, and generation planning. These are</a:t>
            </a:r>
          </a:p>
          <a:p>
            <a:r>
              <a:rPr lang="en-GB" dirty="0"/>
              <a:t>connected. Demand creates pressure on the grid, grid balance must be maintained, and generation</a:t>
            </a:r>
          </a:p>
          <a:p>
            <a:r>
              <a:rPr lang="en-GB" dirty="0"/>
              <a:t>planning is the process that prepares the system before the pressure happens.</a:t>
            </a:r>
          </a:p>
          <a:p>
            <a:r>
              <a:rPr lang="en-GB" dirty="0"/>
              <a:t>There are four key ideas here.</a:t>
            </a:r>
          </a:p>
          <a:p>
            <a:endParaRPr lang="en-GB" dirty="0"/>
          </a:p>
          <a:p>
            <a:r>
              <a:rPr lang="en-GB" dirty="0"/>
              <a:t>First, continuous balance. Demand and generation must be balanced continuously.</a:t>
            </a:r>
          </a:p>
          <a:p>
            <a:r>
              <a:rPr lang="en-GB" dirty="0"/>
              <a:t>Second, early preparation. Generation has to be prepared before the actual demand occurs.</a:t>
            </a:r>
          </a:p>
          <a:p>
            <a:r>
              <a:rPr lang="en-GB" dirty="0"/>
              <a:t>Third, operational impact. Planning errors can affect reliability, cost and public confidence.</a:t>
            </a:r>
          </a:p>
          <a:p>
            <a:r>
              <a:rPr lang="en-GB" dirty="0"/>
              <a:t>Fourth, decision problem. Peak-demand forecasting supports generation planning decisions.</a:t>
            </a:r>
          </a:p>
          <a:p>
            <a:r>
              <a:rPr lang="en-GB" dirty="0"/>
              <a:t>So this case study is not only about predicting electricity demand. It is about helping CEB make better</a:t>
            </a:r>
          </a:p>
          <a:p>
            <a:r>
              <a:rPr lang="en-GB" dirty="0"/>
              <a:t>planning decisions before peak pressure occurs.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GB" dirty="0"/>
              <a:t>3 This slide shows the public evidence used to define the selected problem.</a:t>
            </a:r>
          </a:p>
          <a:p>
            <a:r>
              <a:rPr lang="en-GB" dirty="0"/>
              <a:t>There are four key figures.</a:t>
            </a:r>
          </a:p>
          <a:p>
            <a:endParaRPr lang="en-GB" dirty="0"/>
          </a:p>
          <a:p>
            <a:r>
              <a:rPr lang="en-GB" dirty="0"/>
              <a:t>The first is 16,802 GWh, which is the total generation in 2024.</a:t>
            </a:r>
          </a:p>
          <a:p>
            <a:r>
              <a:rPr lang="en-GB" dirty="0"/>
              <a:t>The second is 45.91 GWh per day, which is the average daily generation in 2024.</a:t>
            </a:r>
          </a:p>
          <a:p>
            <a:r>
              <a:rPr lang="en-GB" dirty="0"/>
              <a:t>The third is 2,673 MW, which is the night maximum demand in 2024. I have highlighted this as peak</a:t>
            </a:r>
          </a:p>
          <a:p>
            <a:r>
              <a:rPr lang="en-GB" dirty="0"/>
              <a:t>pressure because it directly connects to the planning problem.</a:t>
            </a:r>
          </a:p>
          <a:p>
            <a:r>
              <a:rPr lang="en-GB" dirty="0"/>
              <a:t>The fourth is 867 GWh, which is rooftop solar exports in 2024.</a:t>
            </a:r>
          </a:p>
          <a:p>
            <a:r>
              <a:rPr lang="en-GB" dirty="0"/>
              <a:t>These values show that the issue is not based on an assumption. The case is grounded in CEB public</a:t>
            </a:r>
          </a:p>
          <a:p>
            <a:r>
              <a:rPr lang="en-GB" dirty="0"/>
              <a:t>evidence.</a:t>
            </a:r>
          </a:p>
          <a:p>
            <a:endParaRPr lang="en-GB" dirty="0"/>
          </a:p>
          <a:p>
            <a:r>
              <a:rPr lang="en-GB" dirty="0"/>
              <a:t>When these values are viewed together, they show a more complex planning environment. Total generation</a:t>
            </a:r>
          </a:p>
          <a:p>
            <a:r>
              <a:rPr lang="en-GB" dirty="0"/>
              <a:t>and average daily generation show that electricity requirement is significant. Night maximum demand</a:t>
            </a:r>
          </a:p>
          <a:p>
            <a:r>
              <a:rPr lang="en-GB" dirty="0"/>
              <a:t>shows that the timing of demand matters. Rooftop solar exports show that renewable contribution is also</a:t>
            </a:r>
          </a:p>
          <a:p>
            <a:r>
              <a:rPr lang="en-GB" dirty="0"/>
              <a:t>becoming part of the planning environment.</a:t>
            </a:r>
          </a:p>
          <a:p>
            <a:endParaRPr lang="en-GB" dirty="0"/>
          </a:p>
          <a:p>
            <a:r>
              <a:rPr lang="en-GB" dirty="0"/>
              <a:t>The important point is that the planning issue is not just “electricity demand is high.” The issue is that CEB</a:t>
            </a:r>
          </a:p>
          <a:p>
            <a:r>
              <a:rPr lang="en-GB" dirty="0"/>
              <a:t>must plan around demand pressure, peak timing, and changing generation conditions. That is why this</a:t>
            </a:r>
          </a:p>
          <a:p>
            <a:r>
              <a:rPr lang="en-GB" dirty="0"/>
              <a:t>problem is suitable for decision analytics.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GB" dirty="0"/>
              <a:t>4 The evidence from the previous slide can be interpreted in three main ways.</a:t>
            </a:r>
          </a:p>
          <a:p>
            <a:r>
              <a:rPr lang="en-GB" dirty="0"/>
              <a:t>The first is demand pressure. Higher generation requirement means that CEB must plan carefully to meet</a:t>
            </a:r>
          </a:p>
          <a:p>
            <a:r>
              <a:rPr lang="en-GB" dirty="0"/>
              <a:t>electricity needs. A higher electricity requirement increases the importance of accurate planning.</a:t>
            </a:r>
          </a:p>
          <a:p>
            <a:endParaRPr lang="en-GB" dirty="0"/>
          </a:p>
          <a:p>
            <a:r>
              <a:rPr lang="en-GB" dirty="0"/>
              <a:t>The second is time pressure. The night maximum demand value is important because peak demand is not</a:t>
            </a:r>
          </a:p>
          <a:p>
            <a:r>
              <a:rPr lang="en-GB" dirty="0"/>
              <a:t>only about total energy. It is also about when the pressure occurs. A day may seem manageable at an</a:t>
            </a:r>
          </a:p>
          <a:p>
            <a:r>
              <a:rPr lang="en-GB" dirty="0"/>
              <a:t>average level, but the system can still face pressure during the night peak period.</a:t>
            </a:r>
          </a:p>
          <a:p>
            <a:endParaRPr lang="en-GB" dirty="0"/>
          </a:p>
          <a:p>
            <a:r>
              <a:rPr lang="en-GB" dirty="0"/>
              <a:t>The third is renewable planning pressure. Rooftop solar changes daytime supply contribution. This is useful,</a:t>
            </a:r>
          </a:p>
          <a:p>
            <a:r>
              <a:rPr lang="en-GB" dirty="0"/>
              <a:t>but it also means that planning has to consider time-of-day patterns. Solar contribution is mainly connected</a:t>
            </a:r>
          </a:p>
          <a:p>
            <a:r>
              <a:rPr lang="en-GB" dirty="0"/>
              <a:t>to daylight hours, while the highlighted peak pressure is at night.</a:t>
            </a:r>
          </a:p>
          <a:p>
            <a:endParaRPr lang="en-GB" dirty="0"/>
          </a:p>
          <a:p>
            <a:r>
              <a:rPr lang="en-GB" dirty="0"/>
              <a:t>Therefore, CEB needs earlier warning of high-risk peak-demand conditions. It is not enough to only look at</a:t>
            </a:r>
          </a:p>
          <a:p>
            <a:r>
              <a:rPr lang="en-GB" dirty="0"/>
              <a:t>historical annual figures. Planners need signals that can help them understand which days may become</a:t>
            </a:r>
          </a:p>
          <a:p>
            <a:r>
              <a:rPr lang="en-GB" dirty="0"/>
              <a:t>risky and what conditions are contributing to that risk.</a:t>
            </a:r>
          </a:p>
          <a:p>
            <a:endParaRPr lang="en-GB" dirty="0"/>
          </a:p>
          <a:p>
            <a:r>
              <a:rPr lang="en-GB" dirty="0"/>
              <a:t>This is where decision analytics becomes useful. It can combine demand, weather, generation and calendar related information to support a more structured risk view.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GB" dirty="0"/>
              <a:t>5 Based on the planning environment and the evidence, the selected problem is this:</a:t>
            </a:r>
          </a:p>
          <a:p>
            <a:r>
              <a:rPr lang="en-GB" dirty="0"/>
              <a:t>CEB needs to identify high-risk peak-demand days early enough to support generation planning.</a:t>
            </a:r>
          </a:p>
          <a:p>
            <a:r>
              <a:rPr lang="en-GB" dirty="0"/>
              <a:t>This can be broken into three core questions.</a:t>
            </a:r>
          </a:p>
          <a:p>
            <a:endParaRPr lang="en-GB" dirty="0"/>
          </a:p>
          <a:p>
            <a:r>
              <a:rPr lang="en-GB" dirty="0"/>
              <a:t>The first question is: when will demand pressure become high? This is about identifying the timing of risk</a:t>
            </a:r>
          </a:p>
          <a:p>
            <a:r>
              <a:rPr lang="en-GB" dirty="0"/>
              <a:t>before it occurs.</a:t>
            </a:r>
          </a:p>
          <a:p>
            <a:endParaRPr lang="en-GB" dirty="0"/>
          </a:p>
          <a:p>
            <a:r>
              <a:rPr lang="en-GB" dirty="0"/>
              <a:t>The second question is: what conditions are driving the risk? This is important because a prediction alone is</a:t>
            </a:r>
          </a:p>
          <a:p>
            <a:r>
              <a:rPr lang="en-GB" dirty="0"/>
              <a:t>not enough. Planners also need to understand whether the risk is connected to demand, weather,</a:t>
            </a:r>
          </a:p>
          <a:p>
            <a:r>
              <a:rPr lang="en-GB" dirty="0"/>
              <a:t>generation mix, previous demand patterns, or calendar effects.</a:t>
            </a:r>
          </a:p>
          <a:p>
            <a:endParaRPr lang="en-GB" dirty="0"/>
          </a:p>
          <a:p>
            <a:r>
              <a:rPr lang="en-GB" dirty="0"/>
              <a:t>The third question is: what planning actions should be reviewed? This connects the model output to</a:t>
            </a:r>
          </a:p>
          <a:p>
            <a:r>
              <a:rPr lang="en-GB" dirty="0"/>
              <a:t>decision-making. The result should help planners think about generation readiness, peak alerts and</a:t>
            </a:r>
          </a:p>
          <a:p>
            <a:r>
              <a:rPr lang="en-GB" dirty="0"/>
              <a:t>renewable balancing.</a:t>
            </a:r>
          </a:p>
          <a:p>
            <a:endParaRPr lang="en-GB" dirty="0"/>
          </a:p>
          <a:p>
            <a:r>
              <a:rPr lang="en-GB" dirty="0"/>
              <a:t>The 5W1H summary helps to narrow the scope.</a:t>
            </a:r>
          </a:p>
          <a:p>
            <a:r>
              <a:rPr lang="en-GB" dirty="0"/>
              <a:t>What is the problem? Peak-demand risk.</a:t>
            </a:r>
          </a:p>
          <a:p>
            <a:r>
              <a:rPr lang="en-GB" dirty="0"/>
              <a:t>Why does it matter? Reliability and generation planning.</a:t>
            </a:r>
          </a:p>
          <a:p>
            <a:r>
              <a:rPr lang="en-GB" dirty="0"/>
              <a:t>Who is involved? CEB planners and dispatch teams.</a:t>
            </a:r>
          </a:p>
          <a:p>
            <a:r>
              <a:rPr lang="en-GB" dirty="0"/>
              <a:t>Where does it occur? Across the national grid.</a:t>
            </a:r>
          </a:p>
          <a:p>
            <a:r>
              <a:rPr lang="en-GB" dirty="0"/>
              <a:t>When does it occur? Daily, seasonally and during night peak periods.</a:t>
            </a:r>
          </a:p>
          <a:p>
            <a:endParaRPr lang="en-GB" dirty="0"/>
          </a:p>
          <a:p>
            <a:r>
              <a:rPr lang="en-GB" dirty="0"/>
              <a:t>How can it be supported? By using demand, weather, generation and calendar data.</a:t>
            </a:r>
          </a:p>
          <a:p>
            <a:r>
              <a:rPr lang="en-GB" dirty="0"/>
              <a:t>This breakdown is important because it prevents the project from becoming just a model-building exercise.</a:t>
            </a:r>
          </a:p>
          <a:p>
            <a:r>
              <a:rPr lang="en-GB" dirty="0"/>
              <a:t>It keeps the focus on the actual decision that needs support.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6 This slide shows the proposed decision-support flow.</a:t>
            </a:r>
          </a:p>
          <a:p>
            <a:endParaRPr lang="en-GB" dirty="0"/>
          </a:p>
          <a:p>
            <a:r>
              <a:rPr lang="en-GB" dirty="0"/>
              <a:t>The process starts with inputs. These include weather data, historical demand, generation mix, calendar</a:t>
            </a:r>
          </a:p>
          <a:p>
            <a:r>
              <a:rPr lang="en-GB" dirty="0"/>
              <a:t>and holiday data, and fuel or policy signals.</a:t>
            </a:r>
          </a:p>
          <a:p>
            <a:endParaRPr lang="en-GB" dirty="0"/>
          </a:p>
          <a:p>
            <a:r>
              <a:rPr lang="en-GB" dirty="0"/>
              <a:t>These inputs then move into a data warehouse. The purpose of the data warehouse is to store the planning</a:t>
            </a:r>
          </a:p>
          <a:p>
            <a:r>
              <a:rPr lang="en-GB" dirty="0"/>
              <a:t>data in a structured way.</a:t>
            </a:r>
          </a:p>
          <a:p>
            <a:endParaRPr lang="en-GB" dirty="0"/>
          </a:p>
          <a:p>
            <a:r>
              <a:rPr lang="en-GB" dirty="0"/>
              <a:t>After that, the data goes through pre-processing. This stage is important because raw data usually needs to</a:t>
            </a:r>
          </a:p>
          <a:p>
            <a:r>
              <a:rPr lang="en-GB" dirty="0"/>
              <a:t>be cleaned, structured and prepared before modelling.</a:t>
            </a:r>
          </a:p>
          <a:p>
            <a:endParaRPr lang="en-GB" dirty="0"/>
          </a:p>
          <a:p>
            <a:r>
              <a:rPr lang="en-GB" dirty="0"/>
              <a:t>Then the processed data goes into the machine learning risk model. In this case, the model is used to</a:t>
            </a:r>
          </a:p>
          <a:p>
            <a:r>
              <a:rPr lang="en-GB" dirty="0"/>
              <a:t>classify daily peak-demand risk as low, medium or high.</a:t>
            </a:r>
          </a:p>
          <a:p>
            <a:endParaRPr lang="en-GB" dirty="0"/>
          </a:p>
          <a:p>
            <a:r>
              <a:rPr lang="en-GB" dirty="0"/>
              <a:t>The model output then goes to a decision dashboard. This is a key part of the solution, because the value is</a:t>
            </a:r>
          </a:p>
          <a:p>
            <a:r>
              <a:rPr lang="en-GB" dirty="0"/>
              <a:t>not only in the model. The value comes when the result is presented in a way that planners can use.</a:t>
            </a:r>
          </a:p>
          <a:p>
            <a:endParaRPr lang="en-GB" dirty="0"/>
          </a:p>
          <a:p>
            <a:r>
              <a:rPr lang="en-GB" dirty="0"/>
              <a:t>Finally, the dashboard supports outputs such as generation scheduling, peak alerts and renewable</a:t>
            </a:r>
          </a:p>
          <a:p>
            <a:r>
              <a:rPr lang="en-GB" dirty="0"/>
              <a:t>balancing.</a:t>
            </a:r>
          </a:p>
          <a:p>
            <a:endParaRPr lang="en-GB" dirty="0"/>
          </a:p>
          <a:p>
            <a:r>
              <a:rPr lang="en-GB" dirty="0"/>
              <a:t>The important point here is that analytics should connect data inputs to planning action. A model that only</a:t>
            </a:r>
          </a:p>
          <a:p>
            <a:r>
              <a:rPr lang="en-GB" dirty="0"/>
              <a:t>gives a label is not enough. For decision analytics, the output must support a real decision process.</a:t>
            </a:r>
          </a:p>
          <a:p>
            <a:r>
              <a:rPr lang="en-GB" dirty="0"/>
              <a:t>So the proposed flow is: inputs, data warehouse, pre-processing, machine learning risk model, decision</a:t>
            </a:r>
          </a:p>
          <a:p>
            <a:r>
              <a:rPr lang="en-GB" dirty="0"/>
              <a:t>dashboard, and planning outputs.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22250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GB" dirty="0"/>
              <a:t>7 This slide is very important because it explains the limitation of the practical implementation.</a:t>
            </a:r>
          </a:p>
          <a:p>
            <a:endParaRPr lang="en-GB" dirty="0"/>
          </a:p>
          <a:p>
            <a:r>
              <a:rPr lang="en-GB" dirty="0"/>
              <a:t>The dataset used for the prototype is a synthetic daily dataset. It was calibrated to CEB 2024 anchor values.</a:t>
            </a:r>
          </a:p>
          <a:p>
            <a:r>
              <a:rPr lang="en-GB" dirty="0"/>
              <a:t>This means the dataset was created for academic modelling demonstration and connected to the official</a:t>
            </a:r>
          </a:p>
          <a:p>
            <a:r>
              <a:rPr lang="en-GB" dirty="0"/>
              <a:t>2024 values used in the case study.</a:t>
            </a:r>
          </a:p>
          <a:p>
            <a:endParaRPr lang="en-GB" dirty="0"/>
          </a:p>
          <a:p>
            <a:r>
              <a:rPr lang="en-GB" dirty="0"/>
              <a:t>However, internal CEB SCADA data, dispatch data, and smart-meter data were not used.</a:t>
            </a:r>
          </a:p>
          <a:p>
            <a:endParaRPr lang="en-GB" dirty="0"/>
          </a:p>
          <a:p>
            <a:r>
              <a:rPr lang="en-GB" dirty="0"/>
              <a:t>The dataset supports the modelling demonstration, but it does not represent live CEB operational</a:t>
            </a:r>
          </a:p>
          <a:p>
            <a:r>
              <a:rPr lang="en-GB" dirty="0"/>
              <a:t>performance. </a:t>
            </a:r>
          </a:p>
          <a:p>
            <a:endParaRPr lang="en-GB" dirty="0"/>
          </a:p>
          <a:p>
            <a:r>
              <a:rPr lang="en-GB" dirty="0"/>
              <a:t>That means the model result should be interpreted carefully.</a:t>
            </a:r>
          </a:p>
          <a:p>
            <a:endParaRPr lang="en-GB" dirty="0"/>
          </a:p>
          <a:p>
            <a:r>
              <a:rPr lang="en-GB" dirty="0"/>
              <a:t>In real electricity planning, a deployable system would need real operational data, such as hourly or half-hourly demand, generator availability, dispatch information, weather station data and renewable output.</a:t>
            </a:r>
          </a:p>
          <a:p>
            <a:r>
              <a:rPr lang="en-GB" dirty="0"/>
              <a:t>So the correct interpretation is: this prototype demonstrates how the workflow could operate, but any real</a:t>
            </a:r>
          </a:p>
          <a:p>
            <a:r>
              <a:rPr lang="en-GB" dirty="0"/>
              <a:t>deployment would need validation using actual operational data.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GB" dirty="0"/>
              <a:t>8 Before modelling, exploratory data analysis was used to check the data structure.</a:t>
            </a:r>
          </a:p>
          <a:p>
            <a:r>
              <a:rPr lang="en-GB" dirty="0"/>
              <a:t>The EDA focused on three main areas.</a:t>
            </a:r>
          </a:p>
          <a:p>
            <a:endParaRPr lang="en-GB" dirty="0"/>
          </a:p>
          <a:p>
            <a:r>
              <a:rPr lang="en-GB" dirty="0"/>
              <a:t>First, demand variation. The daily demand trend helps to check whether the synthetic data has reasonable</a:t>
            </a:r>
          </a:p>
          <a:p>
            <a:r>
              <a:rPr lang="en-GB" dirty="0"/>
              <a:t>daily movement around the 2024 anchor value.</a:t>
            </a:r>
          </a:p>
          <a:p>
            <a:endParaRPr lang="en-GB" dirty="0"/>
          </a:p>
          <a:p>
            <a:r>
              <a:rPr lang="en-GB" dirty="0"/>
              <a:t>Second, risk-label balance. This is important because if the risk classes are badly imbalanced, the model</a:t>
            </a:r>
          </a:p>
          <a:p>
            <a:r>
              <a:rPr lang="en-GB" dirty="0"/>
              <a:t>may appear accurate while not properly identifying high-risk days.</a:t>
            </a:r>
          </a:p>
          <a:p>
            <a:endParaRPr lang="en-GB" dirty="0"/>
          </a:p>
          <a:p>
            <a:r>
              <a:rPr lang="en-GB" dirty="0"/>
              <a:t>Third, the relationship between daily demand and night peak demand. The scatter plot shows a visible</a:t>
            </a:r>
          </a:p>
          <a:p>
            <a:r>
              <a:rPr lang="en-GB" dirty="0"/>
              <a:t>positive relationship, which supports the idea that daily demand is relevant to peak-demand risk.</a:t>
            </a:r>
          </a:p>
          <a:p>
            <a:endParaRPr lang="en-GB" dirty="0"/>
          </a:p>
          <a:p>
            <a:r>
              <a:rPr lang="en-GB" dirty="0"/>
              <a:t>After EDA, the Random Forest model was selected for risk classification.</a:t>
            </a:r>
          </a:p>
          <a:p>
            <a:r>
              <a:rPr lang="en-GB" dirty="0"/>
              <a:t>Random Forest was selected because it can classify low, medium and high risk levels. It can also handle</a:t>
            </a:r>
          </a:p>
          <a:p>
            <a:r>
              <a:rPr lang="en-GB" dirty="0"/>
              <a:t>non-linear relationships between demand, weather, generation and calendar variables. Another reason is</a:t>
            </a:r>
          </a:p>
          <a:p>
            <a:r>
              <a:rPr lang="en-GB" dirty="0"/>
              <a:t>that it provides feature importance, which is useful for explanation.</a:t>
            </a:r>
          </a:p>
          <a:p>
            <a:endParaRPr lang="en-GB" dirty="0"/>
          </a:p>
          <a:p>
            <a:r>
              <a:rPr lang="en-GB" dirty="0"/>
              <a:t>However, I am not claiming that Random Forest is the final best model for CEB. It is suitable for this</a:t>
            </a:r>
          </a:p>
          <a:p>
            <a:r>
              <a:rPr lang="en-GB" dirty="0"/>
              <a:t>prototype. In a real implementation, it should be compared with other models using real operational data</a:t>
            </a:r>
          </a:p>
          <a:p>
            <a:r>
              <a:rPr lang="en-GB" dirty="0"/>
              <a:t>and cost-sensitive evaluation.</a:t>
            </a:r>
          </a:p>
          <a:p>
            <a:endParaRPr lang="en-GB" dirty="0"/>
          </a:p>
          <a:p>
            <a:r>
              <a:rPr lang="en-GB" dirty="0"/>
              <a:t>So this slide has two purposes. First, it shows that EDA was used to understand the data before modelling.</a:t>
            </a:r>
          </a:p>
          <a:p>
            <a:r>
              <a:rPr lang="en-GB" dirty="0"/>
              <a:t>Second, it explains why Random Forest was a suitable model choice for the prototype.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GB" dirty="0"/>
              <a:t>9 The Random Forest model achieved 68.48% test accuracy.</a:t>
            </a:r>
          </a:p>
          <a:p>
            <a:endParaRPr lang="en-GB" dirty="0"/>
          </a:p>
          <a:p>
            <a:r>
              <a:rPr lang="en-GB" dirty="0"/>
              <a:t>This result shows a useful proof-of-concept signal. It suggests that the selected variables contain some</a:t>
            </a:r>
          </a:p>
          <a:p>
            <a:r>
              <a:rPr lang="en-GB" dirty="0"/>
              <a:t>predictive information for classifying peak-demand risk.</a:t>
            </a:r>
          </a:p>
          <a:p>
            <a:r>
              <a:rPr lang="en-GB" dirty="0"/>
              <a:t>However, accuracy alone is not enough for this type of problem.</a:t>
            </a:r>
          </a:p>
          <a:p>
            <a:endParaRPr lang="en-GB" dirty="0"/>
          </a:p>
          <a:p>
            <a:r>
              <a:rPr lang="en-GB" dirty="0"/>
              <a:t>In electricity planning, different errors have different consequences. A false alert may lead to extra review or</a:t>
            </a:r>
          </a:p>
          <a:p>
            <a:r>
              <a:rPr lang="en-GB" dirty="0"/>
              <a:t>preparation. But missing a high-risk day is more serious because planners may lose preparation time.</a:t>
            </a:r>
          </a:p>
          <a:p>
            <a:endParaRPr lang="en-GB" dirty="0"/>
          </a:p>
          <a:p>
            <a:r>
              <a:rPr lang="en-GB" dirty="0"/>
              <a:t>That is why high-risk recall is important. If the model fails to identify actual high-risk days, the model may</a:t>
            </a:r>
          </a:p>
          <a:p>
            <a:r>
              <a:rPr lang="en-GB" dirty="0"/>
              <a:t>not be useful enough for planning support, even if the overall accuracy looks acceptable.</a:t>
            </a:r>
          </a:p>
          <a:p>
            <a:endParaRPr lang="en-GB" dirty="0"/>
          </a:p>
          <a:p>
            <a:r>
              <a:rPr lang="en-GB" dirty="0"/>
              <a:t>The confusion matrix helps to show this issue. It gives more detail than a single accuracy score. For this</a:t>
            </a:r>
          </a:p>
          <a:p>
            <a:r>
              <a:rPr lang="en-GB" dirty="0"/>
              <a:t>case, the key learning is that future improvement should prioritise high-risk recall.</a:t>
            </a:r>
          </a:p>
          <a:p>
            <a:endParaRPr lang="en-GB" dirty="0"/>
          </a:p>
          <a:p>
            <a:r>
              <a:rPr lang="en-GB" dirty="0"/>
              <a:t>The result should therefore be interpreted carefully. It is useful as a prototype, but it is not  without real CEB operational data. </a:t>
            </a:r>
          </a:p>
          <a:p>
            <a:endParaRPr lang="en-GB" dirty="0"/>
          </a:p>
          <a:p>
            <a:r>
              <a:rPr lang="en-GB" dirty="0"/>
              <a:t>The critical point is this: the model should be improved not only to increase accuracy, but to reduce missed</a:t>
            </a:r>
          </a:p>
          <a:p>
            <a:r>
              <a:rPr lang="en-GB" dirty="0"/>
              <a:t>high-risk days. This could involve better real data, threshold tuning, class weighting, or testing alternative</a:t>
            </a:r>
          </a:p>
          <a:p>
            <a:r>
              <a:rPr lang="en-GB" dirty="0"/>
              <a:t>algorithms.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GB" dirty="0"/>
              <a:t>10 The recommended next step is to start with a controlled decision-support pilot dashboard.</a:t>
            </a:r>
          </a:p>
          <a:p>
            <a:endParaRPr lang="en-GB" dirty="0"/>
          </a:p>
          <a:p>
            <a:r>
              <a:rPr lang="en-GB" dirty="0"/>
              <a:t>The feasibility score is 4.00 out of 5.00. This suggests that the idea is feasible as a controlled pilot, but not as</a:t>
            </a:r>
          </a:p>
          <a:p>
            <a:r>
              <a:rPr lang="en-GB" dirty="0"/>
              <a:t>a fully automated national system.</a:t>
            </a:r>
          </a:p>
          <a:p>
            <a:endParaRPr lang="en-GB" dirty="0"/>
          </a:p>
          <a:p>
            <a:r>
              <a:rPr lang="en-GB" dirty="0"/>
              <a:t>The dashboard should show four key things.</a:t>
            </a:r>
          </a:p>
          <a:p>
            <a:r>
              <a:rPr lang="en-GB" dirty="0"/>
              <a:t>First, the peak-risk level. This tells planners whether the day is low, medium or high risk.</a:t>
            </a:r>
          </a:p>
          <a:p>
            <a:endParaRPr lang="en-GB" dirty="0"/>
          </a:p>
          <a:p>
            <a:r>
              <a:rPr lang="en-GB" dirty="0"/>
              <a:t>Second, confidence. This helps planners understand how strongly the model supports the prediction.</a:t>
            </a:r>
          </a:p>
          <a:p>
            <a:endParaRPr lang="en-GB" dirty="0"/>
          </a:p>
          <a:p>
            <a:r>
              <a:rPr lang="en-GB" dirty="0"/>
              <a:t>Third, top drivers. This is important because planners need to know what factors are contributing to the</a:t>
            </a:r>
          </a:p>
          <a:p>
            <a:r>
              <a:rPr lang="en-GB" dirty="0"/>
              <a:t>risk.</a:t>
            </a:r>
          </a:p>
          <a:p>
            <a:endParaRPr lang="en-GB" dirty="0"/>
          </a:p>
          <a:p>
            <a:r>
              <a:rPr lang="en-GB" dirty="0"/>
              <a:t>Fourth, suggested planning actions. These actions should support planner review, not automatically control</a:t>
            </a:r>
          </a:p>
          <a:p>
            <a:r>
              <a:rPr lang="en-GB" dirty="0"/>
              <a:t>dispatch.</a:t>
            </a:r>
          </a:p>
          <a:p>
            <a:endParaRPr lang="en-GB" dirty="0"/>
          </a:p>
          <a:p>
            <a:r>
              <a:rPr lang="en-GB" dirty="0"/>
              <a:t>Suggested actions may include reviewing generation readiness, checking renewable balancing, and</a:t>
            </a:r>
          </a:p>
          <a:p>
            <a:r>
              <a:rPr lang="en-GB" dirty="0"/>
              <a:t>preparing demand-response options.</a:t>
            </a:r>
          </a:p>
          <a:p>
            <a:r>
              <a:rPr lang="en-GB" dirty="0"/>
              <a:t>The final takeaway is that decision analytics should support CEB planners, not replace engineering</a:t>
            </a:r>
          </a:p>
          <a:p>
            <a:r>
              <a:rPr lang="en-GB" dirty="0"/>
              <a:t>judgement.</a:t>
            </a:r>
          </a:p>
          <a:p>
            <a:endParaRPr lang="en-GB" dirty="0"/>
          </a:p>
          <a:p>
            <a:r>
              <a:rPr lang="en-GB" dirty="0"/>
              <a:t>This is important because electricity planning is a high-impact environment. A model can provide earlier</a:t>
            </a:r>
          </a:p>
          <a:p>
            <a:r>
              <a:rPr lang="en-GB" dirty="0"/>
              <a:t>warning and clearer evidence, but human expertise, operational constraints and engineering judgement</a:t>
            </a:r>
          </a:p>
          <a:p>
            <a:r>
              <a:rPr lang="en-GB" dirty="0"/>
              <a:t>remain essential.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GB" dirty="0"/>
              <a:t>11 To conclude, this case study shows how decision analytics can support peak-demand risk forecasting and</a:t>
            </a:r>
          </a:p>
          <a:p>
            <a:r>
              <a:rPr lang="en-GB" dirty="0"/>
              <a:t>generation planning for CEB.</a:t>
            </a:r>
          </a:p>
          <a:p>
            <a:endParaRPr lang="en-GB" dirty="0"/>
          </a:p>
          <a:p>
            <a:r>
              <a:rPr lang="en-GB" dirty="0"/>
              <a:t>The analysis starts from CEB public evidence, identifies the planning problem, proposes a decision-support</a:t>
            </a:r>
          </a:p>
          <a:p>
            <a:r>
              <a:rPr lang="en-GB" dirty="0"/>
              <a:t>flow, demonstrates a prototype model, and critically evaluates the result.</a:t>
            </a:r>
          </a:p>
          <a:p>
            <a:endParaRPr lang="en-GB" dirty="0"/>
          </a:p>
          <a:p>
            <a:r>
              <a:rPr lang="en-GB" dirty="0"/>
              <a:t>The model achieved 68.48% test accuracy, but the more important lesson is that accuracy alone is not</a:t>
            </a:r>
          </a:p>
          <a:p>
            <a:r>
              <a:rPr lang="en-GB" dirty="0"/>
              <a:t>enough. High-risk recall should be improved because missing high-risk days matters more in planning.</a:t>
            </a:r>
          </a:p>
          <a:p>
            <a:endParaRPr lang="en-GB" dirty="0"/>
          </a:p>
          <a:p>
            <a:r>
              <a:rPr lang="en-GB" dirty="0"/>
              <a:t>The best recommendation is not full automation. The best next step is a controlled pilot dashboard using</a:t>
            </a:r>
          </a:p>
          <a:p>
            <a:r>
              <a:rPr lang="en-GB" dirty="0"/>
              <a:t>real operational data, planner oversight and clear governance.</a:t>
            </a:r>
          </a:p>
          <a:p>
            <a:r>
              <a:rPr lang="en-GB" dirty="0"/>
              <a:t>Thank you.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5841406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800" dirty="0"/>
              <a:t>“The business problem was CEB’s need for earlier peak-demand planning support. The analytical problem became classifying each day as Low, Medium or High peak-demand risk using demand, weather, generation and calendar data.”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2800" dirty="0"/>
          </a:p>
          <a:p>
            <a:r>
              <a:rPr lang="en-GB" sz="4000" b="1" dirty="0"/>
              <a:t>Big Data 4Vs</a:t>
            </a:r>
            <a:br>
              <a:rPr lang="en-GB" sz="4000" dirty="0"/>
            </a:br>
            <a:r>
              <a:rPr lang="en-GB" sz="4000" dirty="0"/>
              <a:t>Volume, Velocity, Variety and Veracity. Sometimes Value is added.</a:t>
            </a:r>
          </a:p>
          <a:p>
            <a:r>
              <a:rPr lang="en-GB" sz="4000" b="1" dirty="0"/>
              <a:t>Volume</a:t>
            </a:r>
            <a:br>
              <a:rPr lang="en-GB" sz="4000" dirty="0"/>
            </a:br>
            <a:r>
              <a:rPr lang="en-GB" sz="4000" dirty="0"/>
              <a:t>The amount of data.</a:t>
            </a:r>
          </a:p>
          <a:p>
            <a:r>
              <a:rPr lang="en-GB" sz="4000" b="1" dirty="0"/>
              <a:t>Velocity</a:t>
            </a:r>
            <a:br>
              <a:rPr lang="en-GB" sz="4000" dirty="0"/>
            </a:br>
            <a:r>
              <a:rPr lang="en-GB" sz="4000" dirty="0"/>
              <a:t>How fast data is generated or updated.</a:t>
            </a:r>
          </a:p>
          <a:p>
            <a:r>
              <a:rPr lang="en-GB" sz="4000" b="1" dirty="0"/>
              <a:t>Variety</a:t>
            </a:r>
            <a:br>
              <a:rPr lang="en-GB" sz="4000" dirty="0"/>
            </a:br>
            <a:r>
              <a:rPr lang="en-GB" sz="4000" dirty="0"/>
              <a:t>Different types of data.</a:t>
            </a:r>
          </a:p>
          <a:p>
            <a:r>
              <a:rPr lang="en-GB" sz="4000" b="1" dirty="0"/>
              <a:t>Veracity</a:t>
            </a:r>
            <a:br>
              <a:rPr lang="en-GB" sz="4000" dirty="0"/>
            </a:br>
            <a:r>
              <a:rPr lang="en-GB" sz="4000" dirty="0"/>
              <a:t>Data quality and trustworthiness.</a:t>
            </a:r>
          </a:p>
          <a:p>
            <a:r>
              <a:rPr lang="en-GB" sz="4000" b="1" dirty="0"/>
              <a:t>Value</a:t>
            </a:r>
            <a:br>
              <a:rPr lang="en-GB" sz="4000" dirty="0"/>
            </a:br>
            <a:r>
              <a:rPr lang="en-GB" sz="4000" dirty="0"/>
              <a:t>The usefulness of data for decision-making.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2800" dirty="0"/>
          </a:p>
          <a:p>
            <a:endParaRPr lang="en-GB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Simple one-line Q&amp;A answers</a:t>
            </a:r>
          </a:p>
          <a:p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1. Why did you choose CEB?</a:t>
            </a:r>
            <a:b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Because CEB has a real planning challenge where demand and generation must be balanced continuously.</a:t>
            </a:r>
          </a:p>
          <a:p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2. What is the main problem?</a:t>
            </a:r>
            <a:b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main problem is identifying high-risk peak-demand days early enough to support generation planning.</a:t>
            </a:r>
          </a:p>
          <a:p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3. Why is this Decision Analytics?</a:t>
            </a:r>
            <a:b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Because the model output is connected to planning decisions, not just prediction.</a:t>
            </a:r>
          </a:p>
          <a:p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4. Why not just forecast demand?</a:t>
            </a:r>
            <a:b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Because planners need an understandable risk level: Low, Medium or High.</a:t>
            </a:r>
          </a:p>
          <a:p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5. Why did you use synthetic data?</a:t>
            </a:r>
            <a:b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Because internal CEB SCADA, dispatch and smart-meter data are not publicly available.</a:t>
            </a:r>
          </a:p>
          <a:p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6. Is this real CEB operational data?</a:t>
            </a:r>
            <a:b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No, it is a synthetic dataset calibrated to CEB 2024 anchor values.</a:t>
            </a:r>
          </a:p>
          <a:p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7. Is the model ready for CEB use?</a:t>
            </a:r>
            <a:b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No, it is only a decision-support prototype and must be validated with real operational data.</a:t>
            </a:r>
          </a:p>
          <a:p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8. Why Random Forest?</a:t>
            </a:r>
            <a:b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Because it handles non-linear relationships and gives feature importance for explanation.</a:t>
            </a:r>
          </a:p>
          <a:p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9. Is Random Forest the best model?</a:t>
            </a:r>
            <a:b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 am not claiming it is the best; it was suitable for this prototype.</a:t>
            </a:r>
          </a:p>
          <a:p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10. Why not use time-series forecasting?</a:t>
            </a:r>
            <a:b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Time-series forecasting is useful, but this prototype focuses on risk classification for planning action.</a:t>
            </a:r>
          </a:p>
          <a:p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11. What does 68.48% mean?</a:t>
            </a:r>
            <a:b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It shows proof-of-concept performance, not production-level performance.</a:t>
            </a:r>
          </a:p>
          <a:p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12. Is 68.48% good enough?</a:t>
            </a:r>
            <a:b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Not for deployment; it only shows that the selected variables contain useful signal.</a:t>
            </a:r>
          </a:p>
          <a:p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13. Why is accuracy alone not enough?</a:t>
            </a:r>
            <a:b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Because missing a high-risk day is more serious than a false alert.</a:t>
            </a:r>
          </a:p>
          <a:p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14. What is high-risk recall?</a:t>
            </a:r>
            <a:b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It is how many actual high-risk days the model correctly identifies.</a:t>
            </a:r>
          </a:p>
          <a:p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15. What is the main weakness?</a:t>
            </a:r>
            <a:b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main weakness is the use of synthetic data and weaker high-risk recall.</a:t>
            </a:r>
          </a:p>
          <a:p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16. What data would improve this?</a:t>
            </a:r>
            <a:b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Real hourly demand, SCADA data, dispatch records, generator availability, weather and rooftop solar data.</a:t>
            </a:r>
          </a:p>
          <a:p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17. What did feature importance show?</a:t>
            </a:r>
            <a:b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It showed that both demand-side and generation-side variables influenced the prediction.</a:t>
            </a:r>
          </a:p>
          <a:p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18. Why is Thermal_GWh important?</a:t>
            </a:r>
            <a:b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 the prototype, the model found Thermal_GWh strongly connected with risk classification.</a:t>
            </a:r>
          </a:p>
          <a:p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19. Does Thermal_GWh cause peak risk?</a:t>
            </a:r>
            <a:b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Not directly; it influenced the model prediction and must be validated with real data.</a:t>
            </a:r>
          </a:p>
          <a:p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20. What should the dashboard show?</a:t>
            </a:r>
            <a:b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Risk level, confidence, top drivers and suggested planning actions.</a:t>
            </a:r>
          </a:p>
          <a:p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21. Will the dashboard make decisions?</a:t>
            </a:r>
            <a:b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No, it should support planners, not replace engineering judgement.</a:t>
            </a:r>
          </a:p>
          <a:p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22. What is your recommendation?</a:t>
            </a:r>
            <a:b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Start with a controlled decision-support pilot dashboard.</a:t>
            </a:r>
          </a:p>
          <a:p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23. Why not build a full national system?</a:t>
            </a:r>
            <a:b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Because real deployment needs data access, validation, governance and security controls.</a:t>
            </a:r>
          </a:p>
          <a:p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24. What does 4.00 / 5.00 feasibility mean?</a:t>
            </a:r>
            <a:b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It means the idea is feasible as a controlled pilot, not as full automation.</a:t>
            </a:r>
          </a:p>
          <a:p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25. What would you improve next?</a:t>
            </a:r>
            <a:b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Use real CEB data, improve high-risk recall, test other models and validate with planners.</a:t>
            </a:r>
          </a:p>
          <a:p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26. What is your final conclusion?</a:t>
            </a:r>
            <a:b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Decision analytics can support earlier peak-risk planning, but it should not replace CEB planners.</a:t>
            </a:r>
          </a:p>
          <a:p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Emergency answer:</a:t>
            </a:r>
            <a:b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“This is a decision-support prototype, not a live CEB forecasting system.”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8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“The 4.00 score came from a weighted feasibility assessment, where different areas like technical, data, operational, economic and governance feasibility were scored out of 5 and multiplied by their importance weight.”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8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8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8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8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8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dataset was created</a:t>
            </a:r>
            <a:b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Synthetic daily dataset calibrated to CEB 2024 anchor values. 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features were used</a:t>
            </a:r>
            <a:b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Demand, previous-day demand, weather, generation mix, calendar variables. 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target was predicted</a:t>
            </a:r>
            <a:b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Peak Risk Level: Low, Medium, High. 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Why Random Forest</a:t>
            </a:r>
            <a:b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Handles non-linear relationships and gives feature importance. 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model was evaluated</a:t>
            </a:r>
            <a:b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Train-test split, classification report, confusion matrix, accuracy. 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Main result</a:t>
            </a:r>
            <a:b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68.48% test accuracy, but high-risk recall needs improvement. 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 he asks, “Can you show the code?”, say: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“Yes sir, I followed the Colab workflow for data generation, EDA, train-test split, Random Forest training, and evaluation. I can show the notebook/code if required.”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But don’t open code unless he asks.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he may ask instead: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“Did you really implement the model?”</a:t>
            </a:r>
            <a:b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Say: “Yes sir, the prototype workflow was implemented in Google Colab using the synthetic CEB-calibrated dataset.”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“What library did you use?”</a:t>
            </a:r>
            <a:b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Say: “Python with pandas, scikit-learn, matplotlib/seaborn for analysis and visualisation.”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“What did the code do?”</a:t>
            </a:r>
            <a:b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Say: “It generated/loaded the dataset, checked EDA, created the train-test split, trained Random Forest, then evaluated using accuracy, classification report and confusion matrix.”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8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8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generated 366 daily rows in Python, added calendar, demand, weather and generation variables, controlled the values around CEB 2024 anchor figures, calculated a peak-risk score, converted it into Low/Medium/High labels using percentiles, and excluded the risk score from training to avoid leakage.”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8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8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Accuracy = Correct predictions / Total predictions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“I got the accuracy and evaluation metrics by comparing the Random Forest predictions on the test set against the actual Low, Medium and High risk labels using scikit-learn metrics such as accuracy score, classification report and confusion matrix.”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8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12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5824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6858000" cy="10287000"/>
            <a:chOff x="0" y="0"/>
            <a:chExt cx="9144000" cy="13716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ADBF1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0" y="0"/>
            <a:ext cx="8319707" cy="10287000"/>
            <a:chOff x="0" y="0"/>
            <a:chExt cx="10634588" cy="1314926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634588" cy="13149199"/>
            </a:xfrm>
            <a:custGeom>
              <a:avLst/>
              <a:gdLst/>
              <a:ahLst/>
              <a:cxnLst/>
              <a:rect l="l" t="t" r="r" b="b"/>
              <a:pathLst>
                <a:path w="10634588" h="13149199">
                  <a:moveTo>
                    <a:pt x="0" y="0"/>
                  </a:moveTo>
                  <a:lnTo>
                    <a:pt x="10634588" y="0"/>
                  </a:lnTo>
                  <a:lnTo>
                    <a:pt x="10634588" y="13149199"/>
                  </a:lnTo>
                  <a:lnTo>
                    <a:pt x="0" y="131491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0808" r="-44660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8680856" y="1754238"/>
            <a:ext cx="9445523" cy="3562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Peak Demand Risk Forecasting and Generation Planning Support for CEB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680856" y="5647134"/>
            <a:ext cx="9445523" cy="1827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49"/>
              </a:lnSpc>
            </a:pPr>
            <a:r>
              <a:rPr lang="en-US" sz="2599" b="1" dirty="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Decision Analytics Case Study</a:t>
            </a:r>
          </a:p>
          <a:p>
            <a:pPr algn="l">
              <a:lnSpc>
                <a:spcPts val="3511"/>
              </a:lnSpc>
            </a:pPr>
            <a:r>
              <a:rPr lang="en-US" sz="22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Ceylon Electricity Board, Sri Lanka</a:t>
            </a:r>
          </a:p>
          <a:p>
            <a:pPr algn="l">
              <a:lnSpc>
                <a:spcPts val="3511"/>
              </a:lnSpc>
            </a:pPr>
            <a:endParaRPr lang="en-US" sz="2200" b="1" dirty="0">
              <a:solidFill>
                <a:srgbClr val="272525"/>
              </a:solidFill>
              <a:latin typeface="Inter Bold"/>
              <a:ea typeface="Inter Bold"/>
              <a:cs typeface="Inter Bold"/>
              <a:sym typeface="Inter Bold"/>
            </a:endParaRPr>
          </a:p>
          <a:p>
            <a:pPr algn="l">
              <a:lnSpc>
                <a:spcPts val="3511"/>
              </a:lnSpc>
            </a:pPr>
            <a:r>
              <a:rPr lang="en-US" sz="2199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Nathumini Pramuditha Jayathilake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-24442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4953000" y="2537906"/>
            <a:ext cx="9031071" cy="4085836"/>
            <a:chOff x="0" y="0"/>
            <a:chExt cx="12041428" cy="544778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041478" cy="5447771"/>
            </a:xfrm>
            <a:custGeom>
              <a:avLst/>
              <a:gdLst/>
              <a:ahLst/>
              <a:cxnLst/>
              <a:rect l="l" t="t" r="r" b="b"/>
              <a:pathLst>
                <a:path w="12041478" h="5447771">
                  <a:moveTo>
                    <a:pt x="0" y="0"/>
                  </a:moveTo>
                  <a:lnTo>
                    <a:pt x="12041478" y="0"/>
                  </a:lnTo>
                  <a:lnTo>
                    <a:pt x="12041478" y="5447771"/>
                  </a:lnTo>
                  <a:lnTo>
                    <a:pt x="0" y="54477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08" r="-408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1960359" y="598589"/>
            <a:ext cx="7845326" cy="705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15"/>
              </a:lnSpc>
            </a:pPr>
            <a:r>
              <a:rPr lang="en-US" sz="4499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CEB's Planning Environment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960359" y="1940535"/>
            <a:ext cx="15281519" cy="3417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3"/>
              </a:lnSpc>
            </a:pPr>
            <a:r>
              <a:rPr lang="en-US" sz="1999" b="1" dirty="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CEB has to balance electricity demand and generation continuously.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642965" y="7052367"/>
            <a:ext cx="8416136" cy="1361034"/>
            <a:chOff x="0" y="0"/>
            <a:chExt cx="11221515" cy="1814712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0"/>
              <a:ext cx="11221515" cy="1814712"/>
              <a:chOff x="0" y="0"/>
              <a:chExt cx="9488881" cy="1534516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9488932" cy="1534541"/>
              </a:xfrm>
              <a:custGeom>
                <a:avLst/>
                <a:gdLst/>
                <a:ahLst/>
                <a:cxnLst/>
                <a:rect l="l" t="t" r="r" b="b"/>
                <a:pathLst>
                  <a:path w="9488932" h="1534541">
                    <a:moveTo>
                      <a:pt x="0" y="117602"/>
                    </a:moveTo>
                    <a:cubicBezTo>
                      <a:pt x="0" y="52578"/>
                      <a:pt x="52578" y="0"/>
                      <a:pt x="117602" y="0"/>
                    </a:cubicBezTo>
                    <a:lnTo>
                      <a:pt x="9371330" y="0"/>
                    </a:lnTo>
                    <a:cubicBezTo>
                      <a:pt x="9436227" y="0"/>
                      <a:pt x="9488932" y="52578"/>
                      <a:pt x="9488932" y="117602"/>
                    </a:cubicBezTo>
                    <a:lnTo>
                      <a:pt x="9488932" y="1416939"/>
                    </a:lnTo>
                    <a:cubicBezTo>
                      <a:pt x="9488932" y="1481836"/>
                      <a:pt x="9436354" y="1534541"/>
                      <a:pt x="9371330" y="1534541"/>
                    </a:cubicBezTo>
                    <a:lnTo>
                      <a:pt x="117602" y="1534541"/>
                    </a:lnTo>
                    <a:cubicBezTo>
                      <a:pt x="52705" y="1534541"/>
                      <a:pt x="0" y="1481963"/>
                      <a:pt x="0" y="1416939"/>
                    </a:cubicBezTo>
                    <a:close/>
                  </a:path>
                </a:pathLst>
              </a:custGeom>
              <a:solidFill>
                <a:srgbClr val="8B1E2D"/>
              </a:solidFill>
              <a:ln w="9526" cap="sq">
                <a:solidFill>
                  <a:srgbClr val="A43746"/>
                </a:solidFill>
                <a:prstDash val="solid"/>
                <a:miter/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350843" y="331793"/>
              <a:ext cx="4103934" cy="5320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51"/>
                </a:lnSpc>
              </a:pPr>
              <a:r>
                <a:rPr lang="en-US" sz="2365" b="1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Continuous Balance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50843" y="970289"/>
              <a:ext cx="10519859" cy="4935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33"/>
                </a:lnSpc>
              </a:pPr>
              <a:r>
                <a:rPr lang="en-US" sz="1892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Demand and generation must be balanced continuously.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228594" y="7052367"/>
            <a:ext cx="8416136" cy="1361034"/>
            <a:chOff x="0" y="0"/>
            <a:chExt cx="11221515" cy="1814712"/>
          </a:xfrm>
        </p:grpSpPr>
        <p:grpSp>
          <p:nvGrpSpPr>
            <p:cNvPr id="16" name="Group 16"/>
            <p:cNvGrpSpPr/>
            <p:nvPr/>
          </p:nvGrpSpPr>
          <p:grpSpPr>
            <a:xfrm>
              <a:off x="0" y="0"/>
              <a:ext cx="11221515" cy="1814712"/>
              <a:chOff x="0" y="0"/>
              <a:chExt cx="9488881" cy="1534516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9488932" cy="1534541"/>
              </a:xfrm>
              <a:custGeom>
                <a:avLst/>
                <a:gdLst/>
                <a:ahLst/>
                <a:cxnLst/>
                <a:rect l="l" t="t" r="r" b="b"/>
                <a:pathLst>
                  <a:path w="9488932" h="1534541">
                    <a:moveTo>
                      <a:pt x="0" y="117602"/>
                    </a:moveTo>
                    <a:cubicBezTo>
                      <a:pt x="0" y="52578"/>
                      <a:pt x="52578" y="0"/>
                      <a:pt x="117602" y="0"/>
                    </a:cubicBezTo>
                    <a:lnTo>
                      <a:pt x="9371330" y="0"/>
                    </a:lnTo>
                    <a:cubicBezTo>
                      <a:pt x="9436227" y="0"/>
                      <a:pt x="9488932" y="52578"/>
                      <a:pt x="9488932" y="117602"/>
                    </a:cubicBezTo>
                    <a:lnTo>
                      <a:pt x="9488932" y="1416939"/>
                    </a:lnTo>
                    <a:cubicBezTo>
                      <a:pt x="9488932" y="1481836"/>
                      <a:pt x="9436354" y="1534541"/>
                      <a:pt x="9371330" y="1534541"/>
                    </a:cubicBezTo>
                    <a:lnTo>
                      <a:pt x="117602" y="1534541"/>
                    </a:lnTo>
                    <a:cubicBezTo>
                      <a:pt x="52705" y="1534541"/>
                      <a:pt x="0" y="1481963"/>
                      <a:pt x="0" y="1416939"/>
                    </a:cubicBezTo>
                    <a:close/>
                  </a:path>
                </a:pathLst>
              </a:custGeom>
              <a:solidFill>
                <a:srgbClr val="8B1E2D"/>
              </a:solidFill>
              <a:ln w="9526" cap="sq">
                <a:solidFill>
                  <a:srgbClr val="A43746"/>
                </a:solidFill>
                <a:prstDash val="solid"/>
                <a:miter/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350843" y="331793"/>
              <a:ext cx="4103934" cy="5320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51"/>
                </a:lnSpc>
              </a:pPr>
              <a:r>
                <a:rPr lang="en-US" sz="2365" b="1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Early Preparation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50843" y="970289"/>
              <a:ext cx="10519859" cy="4935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33"/>
                </a:lnSpc>
              </a:pPr>
              <a:r>
                <a:rPr lang="en-US" sz="1892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Generation must be prepared before demand occurs.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42965" y="8582894"/>
            <a:ext cx="8416136" cy="1361034"/>
            <a:chOff x="0" y="0"/>
            <a:chExt cx="11221515" cy="1814712"/>
          </a:xfrm>
        </p:grpSpPr>
        <p:grpSp>
          <p:nvGrpSpPr>
            <p:cNvPr id="21" name="Group 21"/>
            <p:cNvGrpSpPr/>
            <p:nvPr/>
          </p:nvGrpSpPr>
          <p:grpSpPr>
            <a:xfrm>
              <a:off x="0" y="0"/>
              <a:ext cx="11221515" cy="1814712"/>
              <a:chOff x="0" y="0"/>
              <a:chExt cx="9488881" cy="1534516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9488932" cy="1534541"/>
              </a:xfrm>
              <a:custGeom>
                <a:avLst/>
                <a:gdLst/>
                <a:ahLst/>
                <a:cxnLst/>
                <a:rect l="l" t="t" r="r" b="b"/>
                <a:pathLst>
                  <a:path w="9488932" h="1534541">
                    <a:moveTo>
                      <a:pt x="0" y="117602"/>
                    </a:moveTo>
                    <a:cubicBezTo>
                      <a:pt x="0" y="52578"/>
                      <a:pt x="52578" y="0"/>
                      <a:pt x="117602" y="0"/>
                    </a:cubicBezTo>
                    <a:lnTo>
                      <a:pt x="9371330" y="0"/>
                    </a:lnTo>
                    <a:cubicBezTo>
                      <a:pt x="9436227" y="0"/>
                      <a:pt x="9488932" y="52578"/>
                      <a:pt x="9488932" y="117602"/>
                    </a:cubicBezTo>
                    <a:lnTo>
                      <a:pt x="9488932" y="1416939"/>
                    </a:lnTo>
                    <a:cubicBezTo>
                      <a:pt x="9488932" y="1481836"/>
                      <a:pt x="9436354" y="1534541"/>
                      <a:pt x="9371330" y="1534541"/>
                    </a:cubicBezTo>
                    <a:lnTo>
                      <a:pt x="117602" y="1534541"/>
                    </a:lnTo>
                    <a:cubicBezTo>
                      <a:pt x="52705" y="1534541"/>
                      <a:pt x="0" y="1481963"/>
                      <a:pt x="0" y="1416939"/>
                    </a:cubicBezTo>
                    <a:close/>
                  </a:path>
                </a:pathLst>
              </a:custGeom>
              <a:solidFill>
                <a:srgbClr val="8B1E2D"/>
              </a:solidFill>
              <a:ln w="9526" cap="sq">
                <a:solidFill>
                  <a:srgbClr val="A43746"/>
                </a:solidFill>
                <a:prstDash val="solid"/>
                <a:miter/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350843" y="331778"/>
              <a:ext cx="4103934" cy="5320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51"/>
                </a:lnSpc>
              </a:pPr>
              <a:r>
                <a:rPr lang="en-US" sz="2365" b="1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Operational Impact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50843" y="970289"/>
              <a:ext cx="10519859" cy="4935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33"/>
                </a:lnSpc>
              </a:pPr>
              <a:r>
                <a:rPr lang="en-US" sz="1892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Planning errors can affect reliability, cost and public confidence.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228594" y="8582894"/>
            <a:ext cx="8416136" cy="1361034"/>
            <a:chOff x="0" y="0"/>
            <a:chExt cx="11221515" cy="1814712"/>
          </a:xfrm>
        </p:grpSpPr>
        <p:grpSp>
          <p:nvGrpSpPr>
            <p:cNvPr id="26" name="Group 26"/>
            <p:cNvGrpSpPr/>
            <p:nvPr/>
          </p:nvGrpSpPr>
          <p:grpSpPr>
            <a:xfrm>
              <a:off x="0" y="0"/>
              <a:ext cx="11221515" cy="1814712"/>
              <a:chOff x="0" y="0"/>
              <a:chExt cx="9488881" cy="1534516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9488932" cy="1534541"/>
              </a:xfrm>
              <a:custGeom>
                <a:avLst/>
                <a:gdLst/>
                <a:ahLst/>
                <a:cxnLst/>
                <a:rect l="l" t="t" r="r" b="b"/>
                <a:pathLst>
                  <a:path w="9488932" h="1534541">
                    <a:moveTo>
                      <a:pt x="0" y="117602"/>
                    </a:moveTo>
                    <a:cubicBezTo>
                      <a:pt x="0" y="52578"/>
                      <a:pt x="52578" y="0"/>
                      <a:pt x="117602" y="0"/>
                    </a:cubicBezTo>
                    <a:lnTo>
                      <a:pt x="9371330" y="0"/>
                    </a:lnTo>
                    <a:cubicBezTo>
                      <a:pt x="9436227" y="0"/>
                      <a:pt x="9488932" y="52578"/>
                      <a:pt x="9488932" y="117602"/>
                    </a:cubicBezTo>
                    <a:lnTo>
                      <a:pt x="9488932" y="1416939"/>
                    </a:lnTo>
                    <a:cubicBezTo>
                      <a:pt x="9488932" y="1481836"/>
                      <a:pt x="9436354" y="1534541"/>
                      <a:pt x="9371330" y="1534541"/>
                    </a:cubicBezTo>
                    <a:lnTo>
                      <a:pt x="117602" y="1534541"/>
                    </a:lnTo>
                    <a:cubicBezTo>
                      <a:pt x="52705" y="1534541"/>
                      <a:pt x="0" y="1481963"/>
                      <a:pt x="0" y="1416939"/>
                    </a:cubicBezTo>
                    <a:close/>
                  </a:path>
                </a:pathLst>
              </a:custGeom>
              <a:solidFill>
                <a:srgbClr val="8B1E2D"/>
              </a:solidFill>
              <a:ln w="9526" cap="sq">
                <a:solidFill>
                  <a:srgbClr val="A43746"/>
                </a:solidFill>
                <a:prstDash val="solid"/>
                <a:miter/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350843" y="331778"/>
              <a:ext cx="4103934" cy="5320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51"/>
                </a:lnSpc>
              </a:pPr>
              <a:r>
                <a:rPr lang="en-US" sz="2365" b="1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Decision Problem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50843" y="970289"/>
              <a:ext cx="10519859" cy="4935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33"/>
                </a:lnSpc>
              </a:pPr>
              <a:r>
                <a:rPr lang="en-US" sz="1892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Peak-demand forecasting supports generation planning decisions.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-4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6858000" cy="10287000"/>
            <a:chOff x="0" y="0"/>
            <a:chExt cx="9144000" cy="13716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ADBF1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0" y="-51716"/>
            <a:ext cx="6892478" cy="10338716"/>
            <a:chOff x="0" y="0"/>
            <a:chExt cx="8866581" cy="1329987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866632" cy="13299821"/>
            </a:xfrm>
            <a:custGeom>
              <a:avLst/>
              <a:gdLst/>
              <a:ahLst/>
              <a:cxnLst/>
              <a:rect l="l" t="t" r="r" b="b"/>
              <a:pathLst>
                <a:path w="8866632" h="13299821">
                  <a:moveTo>
                    <a:pt x="0" y="0"/>
                  </a:moveTo>
                  <a:lnTo>
                    <a:pt x="8866632" y="0"/>
                  </a:lnTo>
                  <a:lnTo>
                    <a:pt x="8866632" y="13299821"/>
                  </a:lnTo>
                  <a:lnTo>
                    <a:pt x="0" y="132998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</a:blip>
              <a:stretch>
                <a:fillRect l="-83332" r="-83332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7321463" y="228380"/>
            <a:ext cx="10630495" cy="705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15"/>
              </a:lnSpc>
            </a:pPr>
            <a:r>
              <a:rPr lang="en-US" sz="4499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Evidence Behind the Selected Problem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332349" y="1524660"/>
            <a:ext cx="10701338" cy="3417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3"/>
              </a:lnSpc>
            </a:pPr>
            <a:r>
              <a:rPr lang="en-US" sz="1999" b="1" dirty="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The selected problem is grounded in CEB public evidence.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271564" y="2066030"/>
            <a:ext cx="10730458" cy="615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87"/>
              </a:lnSpc>
            </a:pPr>
            <a:r>
              <a:rPr lang="en-US" sz="5810" b="1">
                <a:solidFill>
                  <a:srgbClr val="8B1E2D"/>
                </a:solidFill>
                <a:latin typeface="Inter Bold"/>
                <a:ea typeface="Inter Bold"/>
                <a:cs typeface="Inter Bold"/>
                <a:sym typeface="Inter Bold"/>
              </a:rPr>
              <a:t>16,802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136148" y="2907276"/>
            <a:ext cx="3001126" cy="359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85"/>
              </a:lnSpc>
            </a:pPr>
            <a:r>
              <a:rPr lang="en-US" sz="2151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GWh Total Generation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271564" y="3336927"/>
            <a:ext cx="10730458" cy="339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6"/>
              </a:lnSpc>
            </a:pPr>
            <a:r>
              <a:rPr lang="en-US" sz="172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Total generation in 2024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271564" y="4241012"/>
            <a:ext cx="10730458" cy="615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87"/>
              </a:lnSpc>
            </a:pPr>
            <a:r>
              <a:rPr lang="en-US" sz="5810" b="1">
                <a:solidFill>
                  <a:srgbClr val="8B1E2D"/>
                </a:solidFill>
                <a:latin typeface="Inter Bold"/>
                <a:ea typeface="Inter Bold"/>
                <a:cs typeface="Inter Bold"/>
                <a:sym typeface="Inter Bold"/>
              </a:rPr>
              <a:t>45.91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236555" y="5082259"/>
            <a:ext cx="2800475" cy="359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85"/>
              </a:lnSpc>
            </a:pPr>
            <a:r>
              <a:rPr lang="en-US" sz="2151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GWh/day Average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271564" y="5511910"/>
            <a:ext cx="10730458" cy="339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6"/>
              </a:lnSpc>
            </a:pPr>
            <a:r>
              <a:rPr lang="en-US" sz="172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Average daily generation in 2024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271564" y="6415995"/>
            <a:ext cx="10730458" cy="615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87"/>
              </a:lnSpc>
            </a:pPr>
            <a:r>
              <a:rPr lang="en-US" sz="5810" b="1">
                <a:solidFill>
                  <a:srgbClr val="FAEF19"/>
                </a:solidFill>
                <a:latin typeface="Inter Bold"/>
                <a:ea typeface="Inter Bold"/>
                <a:cs typeface="Inter Bold"/>
                <a:sym typeface="Inter Bold"/>
              </a:rPr>
              <a:t>2,673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236555" y="7257241"/>
            <a:ext cx="2800475" cy="359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85"/>
              </a:lnSpc>
            </a:pPr>
            <a:r>
              <a:rPr lang="en-US" sz="2151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MW Peak Pressure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271564" y="7686893"/>
            <a:ext cx="10730458" cy="339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6"/>
              </a:lnSpc>
            </a:pPr>
            <a:r>
              <a:rPr lang="en-US" sz="172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Night maximum demand in 2024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271564" y="8590968"/>
            <a:ext cx="10730458" cy="615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87"/>
              </a:lnSpc>
            </a:pPr>
            <a:r>
              <a:rPr lang="en-US" sz="5810" b="1">
                <a:solidFill>
                  <a:srgbClr val="8B1E2D"/>
                </a:solidFill>
                <a:latin typeface="Inter Bold"/>
                <a:ea typeface="Inter Bold"/>
                <a:cs typeface="Inter Bold"/>
                <a:sym typeface="Inter Bold"/>
              </a:rPr>
              <a:t>867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236555" y="9432214"/>
            <a:ext cx="2800475" cy="359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85"/>
              </a:lnSpc>
            </a:pPr>
            <a:r>
              <a:rPr lang="en-US" sz="2151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GWh Solar Exports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271564" y="9861875"/>
            <a:ext cx="10730458" cy="339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6"/>
              </a:lnSpc>
            </a:pPr>
            <a:r>
              <a:rPr lang="en-US" sz="172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Rooftop solar exports in 2024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535038" y="974482"/>
            <a:ext cx="9926088" cy="90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What the Evidence Means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35038" y="2341767"/>
            <a:ext cx="17217923" cy="553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87"/>
              </a:lnSpc>
            </a:pPr>
            <a:r>
              <a:rPr lang="en-US" sz="2999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The issue is not only how much electricity is generated, but </a:t>
            </a:r>
            <a:r>
              <a:rPr lang="en-US" sz="2999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when demand pressure occurs</a:t>
            </a:r>
            <a:r>
              <a:rPr lang="en-US" sz="2999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361359" y="4486417"/>
            <a:ext cx="5580570" cy="2752955"/>
            <a:chOff x="0" y="0"/>
            <a:chExt cx="7440760" cy="3670607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7440760" cy="3670607"/>
            </a:xfrm>
            <a:custGeom>
              <a:avLst/>
              <a:gdLst/>
              <a:ahLst/>
              <a:cxnLst/>
              <a:rect l="l" t="t" r="r" b="b"/>
              <a:pathLst>
                <a:path w="7440760" h="3670607">
                  <a:moveTo>
                    <a:pt x="0" y="0"/>
                  </a:moveTo>
                  <a:lnTo>
                    <a:pt x="7440760" y="0"/>
                  </a:lnTo>
                  <a:lnTo>
                    <a:pt x="7440760" y="3670607"/>
                  </a:lnTo>
                  <a:lnTo>
                    <a:pt x="0" y="36706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t="-38" b="-38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667545" y="433872"/>
              <a:ext cx="4991037" cy="6427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59"/>
                </a:lnSpc>
              </a:pPr>
              <a:r>
                <a:rPr lang="en-US" sz="2851" b="1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Demand Pressure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7545" y="1220994"/>
              <a:ext cx="6320279" cy="7340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08"/>
                </a:lnSpc>
              </a:pPr>
              <a:r>
                <a:rPr lang="en-US" sz="2323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Higher generation requirement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201147" y="4486417"/>
            <a:ext cx="5580570" cy="2752955"/>
            <a:chOff x="0" y="0"/>
            <a:chExt cx="7440760" cy="3670607"/>
          </a:xfrm>
        </p:grpSpPr>
        <p:sp>
          <p:nvSpPr>
            <p:cNvPr id="13" name="Freeform 13" descr="preencoded.png"/>
            <p:cNvSpPr/>
            <p:nvPr/>
          </p:nvSpPr>
          <p:spPr>
            <a:xfrm>
              <a:off x="0" y="0"/>
              <a:ext cx="7440760" cy="3670607"/>
            </a:xfrm>
            <a:custGeom>
              <a:avLst/>
              <a:gdLst/>
              <a:ahLst/>
              <a:cxnLst/>
              <a:rect l="l" t="t" r="r" b="b"/>
              <a:pathLst>
                <a:path w="7440760" h="3670607">
                  <a:moveTo>
                    <a:pt x="0" y="0"/>
                  </a:moveTo>
                  <a:lnTo>
                    <a:pt x="7440760" y="0"/>
                  </a:lnTo>
                  <a:lnTo>
                    <a:pt x="7440760" y="3670607"/>
                  </a:lnTo>
                  <a:lnTo>
                    <a:pt x="0" y="36706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t="-38" b="-38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667545" y="433872"/>
              <a:ext cx="4991037" cy="6427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59"/>
                </a:lnSpc>
              </a:pPr>
              <a:r>
                <a:rPr lang="en-US" sz="2851" b="1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Time Pressure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7545" y="1220994"/>
              <a:ext cx="6320279" cy="13729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08"/>
                </a:lnSpc>
              </a:pPr>
              <a:r>
                <a:rPr lang="en-US" sz="2323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Night maximum demand is important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2040925" y="4486417"/>
            <a:ext cx="5580570" cy="2752955"/>
            <a:chOff x="0" y="0"/>
            <a:chExt cx="7440760" cy="3670607"/>
          </a:xfrm>
        </p:grpSpPr>
        <p:sp>
          <p:nvSpPr>
            <p:cNvPr id="17" name="Freeform 17" descr="preencoded.png"/>
            <p:cNvSpPr/>
            <p:nvPr/>
          </p:nvSpPr>
          <p:spPr>
            <a:xfrm>
              <a:off x="0" y="0"/>
              <a:ext cx="7440760" cy="3670607"/>
            </a:xfrm>
            <a:custGeom>
              <a:avLst/>
              <a:gdLst/>
              <a:ahLst/>
              <a:cxnLst/>
              <a:rect l="l" t="t" r="r" b="b"/>
              <a:pathLst>
                <a:path w="7440760" h="3670607">
                  <a:moveTo>
                    <a:pt x="0" y="0"/>
                  </a:moveTo>
                  <a:lnTo>
                    <a:pt x="7440760" y="0"/>
                  </a:lnTo>
                  <a:lnTo>
                    <a:pt x="7440760" y="3670607"/>
                  </a:lnTo>
                  <a:lnTo>
                    <a:pt x="0" y="36706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t="-38" b="-38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667559" y="433872"/>
              <a:ext cx="6320279" cy="12665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59"/>
                </a:lnSpc>
              </a:pPr>
              <a:r>
                <a:rPr lang="en-US" sz="2851" b="1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Renewable Planning Pressure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67559" y="1844743"/>
              <a:ext cx="6320279" cy="13729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08"/>
                </a:lnSpc>
              </a:pPr>
              <a:r>
                <a:rPr lang="en-US" sz="2323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Rooftop solar changes daytime supply contribution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01601" y="7985812"/>
            <a:ext cx="17220054" cy="1272488"/>
            <a:chOff x="0" y="0"/>
            <a:chExt cx="21738031" cy="160634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1737955" cy="1606296"/>
            </a:xfrm>
            <a:custGeom>
              <a:avLst/>
              <a:gdLst/>
              <a:ahLst/>
              <a:cxnLst/>
              <a:rect l="l" t="t" r="r" b="b"/>
              <a:pathLst>
                <a:path w="21737955" h="1606296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21579205" y="0"/>
                  </a:lnTo>
                  <a:cubicBezTo>
                    <a:pt x="21666836" y="0"/>
                    <a:pt x="21737955" y="71120"/>
                    <a:pt x="21737955" y="158750"/>
                  </a:cubicBezTo>
                  <a:lnTo>
                    <a:pt x="21737955" y="1447546"/>
                  </a:lnTo>
                  <a:cubicBezTo>
                    <a:pt x="21737955" y="1535176"/>
                    <a:pt x="21666836" y="1606296"/>
                    <a:pt x="21579205" y="1606296"/>
                  </a:cubicBezTo>
                  <a:lnTo>
                    <a:pt x="158750" y="1606296"/>
                  </a:lnTo>
                  <a:cubicBezTo>
                    <a:pt x="71120" y="1606296"/>
                    <a:pt x="0" y="1535176"/>
                    <a:pt x="0" y="1447546"/>
                  </a:cubicBezTo>
                  <a:close/>
                </a:path>
              </a:pathLst>
            </a:custGeom>
            <a:solidFill>
              <a:srgbClr val="FFF4C2"/>
            </a:solidFill>
          </p:spPr>
        </p:sp>
      </p:grpSp>
      <p:sp>
        <p:nvSpPr>
          <p:cNvPr id="22" name="TextBox 22"/>
          <p:cNvSpPr txBox="1"/>
          <p:nvPr/>
        </p:nvSpPr>
        <p:spPr>
          <a:xfrm>
            <a:off x="1374790" y="8264842"/>
            <a:ext cx="16913210" cy="4451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1683" lvl="1" indent="-250841" algn="l">
              <a:lnSpc>
                <a:spcPts val="3708"/>
              </a:lnSpc>
              <a:buFont typeface="Arial"/>
              <a:buChar char="•"/>
            </a:pPr>
            <a:r>
              <a:rPr lang="en-US" sz="2323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Bottom takeaway:</a:t>
            </a:r>
            <a:r>
              <a:rPr lang="en-US" sz="2323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CEB needs earlier warning of high-risk peak-demand conditions.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1380534"/>
            <a:ext cx="8485737" cy="90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The Planning Problem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2430794"/>
            <a:ext cx="17217923" cy="553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87"/>
              </a:lnSpc>
            </a:pPr>
            <a:r>
              <a:rPr lang="en-US" sz="2999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CEB needs to identify high-risk peak-demand days early enough to support generation planning.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531418" y="3579198"/>
            <a:ext cx="8400702" cy="4623686"/>
            <a:chOff x="-329464" y="-23372"/>
            <a:chExt cx="11200936" cy="6164914"/>
          </a:xfrm>
        </p:grpSpPr>
        <p:sp>
          <p:nvSpPr>
            <p:cNvPr id="9" name="TextBox 9"/>
            <p:cNvSpPr txBox="1"/>
            <p:nvPr/>
          </p:nvSpPr>
          <p:spPr>
            <a:xfrm>
              <a:off x="284963" y="396875"/>
              <a:ext cx="3677444" cy="6050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19"/>
                </a:lnSpc>
              </a:pPr>
              <a:r>
                <a:rPr lang="en-US" sz="2899" b="1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Core Questions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-329464" y="2062205"/>
              <a:ext cx="10407853" cy="18774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79120" lvl="1" indent="-289560" algn="l">
                <a:lnSpc>
                  <a:spcPts val="3830"/>
                </a:lnSpc>
                <a:buFont typeface="Arial"/>
                <a:buChar char="•"/>
              </a:pPr>
              <a:r>
                <a:rPr lang="en-US" sz="2400" dirty="0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When will demand pressure become high?</a:t>
              </a:r>
            </a:p>
            <a:p>
              <a:pPr marL="579120" lvl="1" indent="-289560" algn="l">
                <a:lnSpc>
                  <a:spcPts val="3830"/>
                </a:lnSpc>
                <a:buFont typeface="Arial"/>
                <a:buChar char="•"/>
              </a:pPr>
              <a:r>
                <a:rPr lang="en-US" sz="2400" dirty="0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What conditions are driving the risk?</a:t>
              </a:r>
            </a:p>
            <a:p>
              <a:pPr marL="579120" lvl="1" indent="-289560" algn="l">
                <a:lnSpc>
                  <a:spcPts val="3830"/>
                </a:lnSpc>
                <a:buFont typeface="Arial"/>
                <a:buChar char="•"/>
              </a:pPr>
              <a:r>
                <a:rPr lang="en-US" sz="2400" dirty="0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What planning actions should be reviewed?</a:t>
              </a:r>
            </a:p>
          </p:txBody>
        </p:sp>
        <p:grpSp>
          <p:nvGrpSpPr>
            <p:cNvPr id="11" name="Group 11"/>
            <p:cNvGrpSpPr/>
            <p:nvPr/>
          </p:nvGrpSpPr>
          <p:grpSpPr>
            <a:xfrm>
              <a:off x="-269793" y="-23372"/>
              <a:ext cx="11141265" cy="6164914"/>
              <a:chOff x="-265218" y="-22976"/>
              <a:chExt cx="10952353" cy="6060381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-265218" y="-22976"/>
                <a:ext cx="10952353" cy="6060381"/>
              </a:xfrm>
              <a:custGeom>
                <a:avLst/>
                <a:gdLst/>
                <a:ahLst/>
                <a:cxnLst/>
                <a:rect l="l" t="t" r="r" b="b"/>
                <a:pathLst>
                  <a:path w="10952353" h="6060381">
                    <a:moveTo>
                      <a:pt x="0" y="232574"/>
                    </a:moveTo>
                    <a:cubicBezTo>
                      <a:pt x="0" y="104186"/>
                      <a:pt x="121920" y="0"/>
                      <a:pt x="272161" y="0"/>
                    </a:cubicBezTo>
                    <a:lnTo>
                      <a:pt x="10680192" y="0"/>
                    </a:lnTo>
                    <a:cubicBezTo>
                      <a:pt x="10830561" y="0"/>
                      <a:pt x="10952353" y="104186"/>
                      <a:pt x="10952353" y="232574"/>
                    </a:cubicBezTo>
                    <a:lnTo>
                      <a:pt x="10952353" y="5827807"/>
                    </a:lnTo>
                    <a:cubicBezTo>
                      <a:pt x="10952353" y="5956304"/>
                      <a:pt x="10830433" y="6060381"/>
                      <a:pt x="10680192" y="6060381"/>
                    </a:cubicBezTo>
                    <a:lnTo>
                      <a:pt x="272161" y="6060381"/>
                    </a:lnTo>
                    <a:cubicBezTo>
                      <a:pt x="121920" y="6060381"/>
                      <a:pt x="0" y="5956304"/>
                      <a:pt x="0" y="5827807"/>
                    </a:cubicBezTo>
                    <a:close/>
                  </a:path>
                </a:pathLst>
              </a:custGeom>
              <a:solidFill>
                <a:srgbClr val="4950BC">
                  <a:alpha val="19608"/>
                </a:srgbClr>
              </a:solidFill>
            </p:spPr>
            <p:txBody>
              <a:bodyPr/>
              <a:lstStyle/>
              <a:p>
                <a:endParaRPr lang="en-GB" dirty="0"/>
              </a:p>
            </p:txBody>
          </p:sp>
        </p:grpSp>
      </p:grpSp>
      <p:grpSp>
        <p:nvGrpSpPr>
          <p:cNvPr id="13" name="Group 13"/>
          <p:cNvGrpSpPr/>
          <p:nvPr/>
        </p:nvGrpSpPr>
        <p:grpSpPr>
          <a:xfrm>
            <a:off x="9153525" y="3596726"/>
            <a:ext cx="8920510" cy="4623702"/>
            <a:chOff x="0" y="0"/>
            <a:chExt cx="11894014" cy="6164936"/>
          </a:xfrm>
        </p:grpSpPr>
        <p:sp>
          <p:nvSpPr>
            <p:cNvPr id="14" name="TextBox 14"/>
            <p:cNvSpPr txBox="1"/>
            <p:nvPr/>
          </p:nvSpPr>
          <p:spPr>
            <a:xfrm>
              <a:off x="461175" y="396875"/>
              <a:ext cx="3773355" cy="6050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19"/>
                </a:lnSpc>
              </a:pPr>
              <a:r>
                <a:rPr lang="en-US" sz="2899" b="1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5W1H Summary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61175" y="1289253"/>
              <a:ext cx="10595504" cy="38205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830"/>
                </a:lnSpc>
              </a:pPr>
              <a:r>
                <a:rPr lang="en-US" sz="2400" b="1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What</a:t>
              </a:r>
              <a:r>
                <a:rPr lang="en-US" sz="2400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 — Peak-demand risk</a:t>
              </a:r>
            </a:p>
            <a:p>
              <a:pPr algn="l">
                <a:lnSpc>
                  <a:spcPts val="3830"/>
                </a:lnSpc>
              </a:pPr>
              <a:r>
                <a:rPr lang="en-US" sz="2400" b="1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Why</a:t>
              </a:r>
              <a:r>
                <a:rPr lang="en-US" sz="2400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 — Reliability and generation planning</a:t>
              </a:r>
            </a:p>
            <a:p>
              <a:pPr algn="l">
                <a:lnSpc>
                  <a:spcPts val="3830"/>
                </a:lnSpc>
              </a:pPr>
              <a:r>
                <a:rPr lang="en-US" sz="2400" b="1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Who</a:t>
              </a:r>
              <a:r>
                <a:rPr lang="en-US" sz="2400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 — CEB planners and dispatch teams</a:t>
              </a:r>
            </a:p>
            <a:p>
              <a:pPr algn="l">
                <a:lnSpc>
                  <a:spcPts val="3830"/>
                </a:lnSpc>
              </a:pPr>
              <a:r>
                <a:rPr lang="en-US" sz="2400" b="1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Where</a:t>
              </a:r>
              <a:r>
                <a:rPr lang="en-US" sz="2400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 — National grid</a:t>
              </a:r>
            </a:p>
            <a:p>
              <a:pPr algn="l">
                <a:lnSpc>
                  <a:spcPts val="3830"/>
                </a:lnSpc>
              </a:pPr>
              <a:r>
                <a:rPr lang="en-US" sz="2400" b="1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When</a:t>
              </a:r>
              <a:r>
                <a:rPr lang="en-US" sz="2400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 — Daily, seasonal and night peak periods</a:t>
              </a:r>
            </a:p>
            <a:p>
              <a:pPr algn="l">
                <a:lnSpc>
                  <a:spcPts val="3830"/>
                </a:lnSpc>
              </a:pPr>
              <a:r>
                <a:rPr lang="en-US" sz="2400" b="1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How</a:t>
              </a:r>
              <a:r>
                <a:rPr lang="en-US" sz="2400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 — Demand, weather, generation and calendar data</a:t>
              </a: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0" y="0"/>
              <a:ext cx="11894014" cy="6164936"/>
              <a:chOff x="0" y="0"/>
              <a:chExt cx="9817806" cy="5088791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9817734" cy="5088699"/>
              </a:xfrm>
              <a:custGeom>
                <a:avLst/>
                <a:gdLst/>
                <a:ahLst/>
                <a:cxnLst/>
                <a:rect l="l" t="t" r="r" b="b"/>
                <a:pathLst>
                  <a:path w="9817734" h="5088699">
                    <a:moveTo>
                      <a:pt x="0" y="286875"/>
                    </a:moveTo>
                    <a:cubicBezTo>
                      <a:pt x="0" y="128520"/>
                      <a:pt x="67088" y="0"/>
                      <a:pt x="149750" y="0"/>
                    </a:cubicBezTo>
                    <a:lnTo>
                      <a:pt x="9667984" y="0"/>
                    </a:lnTo>
                    <a:cubicBezTo>
                      <a:pt x="9750647" y="0"/>
                      <a:pt x="9817734" y="128520"/>
                      <a:pt x="9817734" y="286875"/>
                    </a:cubicBezTo>
                    <a:lnTo>
                      <a:pt x="9817734" y="4801824"/>
                    </a:lnTo>
                    <a:cubicBezTo>
                      <a:pt x="9817734" y="4960179"/>
                      <a:pt x="9750647" y="5088699"/>
                      <a:pt x="9667984" y="5088699"/>
                    </a:cubicBezTo>
                    <a:lnTo>
                      <a:pt x="149750" y="5088699"/>
                    </a:lnTo>
                    <a:cubicBezTo>
                      <a:pt x="67088" y="5088699"/>
                      <a:pt x="0" y="4960179"/>
                      <a:pt x="0" y="4801824"/>
                    </a:cubicBezTo>
                    <a:close/>
                  </a:path>
                </a:pathLst>
              </a:custGeom>
              <a:solidFill>
                <a:srgbClr val="FCF2B5">
                  <a:alpha val="19608"/>
                </a:srgbClr>
              </a:solidFill>
            </p:spPr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028700" y="1775537"/>
            <a:ext cx="9410700" cy="17520"/>
          </a:xfrm>
          <a:prstGeom prst="line">
            <a:avLst/>
          </a:prstGeom>
          <a:ln w="123825" cap="flat">
            <a:solidFill>
              <a:srgbClr val="FADD1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2798223" y="4862018"/>
            <a:ext cx="683480" cy="562964"/>
          </a:xfrm>
          <a:custGeom>
            <a:avLst/>
            <a:gdLst/>
            <a:ahLst/>
            <a:cxnLst/>
            <a:rect l="l" t="t" r="r" b="b"/>
            <a:pathLst>
              <a:path w="549399" h="563562">
                <a:moveTo>
                  <a:pt x="0" y="0"/>
                </a:moveTo>
                <a:lnTo>
                  <a:pt x="549399" y="0"/>
                </a:lnTo>
                <a:lnTo>
                  <a:pt x="549399" y="563562"/>
                </a:lnTo>
                <a:lnTo>
                  <a:pt x="0" y="5635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 dirty="0"/>
          </a:p>
        </p:txBody>
      </p:sp>
      <p:sp>
        <p:nvSpPr>
          <p:cNvPr id="4" name="Freeform 4"/>
          <p:cNvSpPr/>
          <p:nvPr/>
        </p:nvSpPr>
        <p:spPr>
          <a:xfrm>
            <a:off x="5831927" y="4862018"/>
            <a:ext cx="683480" cy="562964"/>
          </a:xfrm>
          <a:custGeom>
            <a:avLst/>
            <a:gdLst/>
            <a:ahLst/>
            <a:cxnLst/>
            <a:rect l="l" t="t" r="r" b="b"/>
            <a:pathLst>
              <a:path w="549399" h="563562">
                <a:moveTo>
                  <a:pt x="0" y="0"/>
                </a:moveTo>
                <a:lnTo>
                  <a:pt x="549399" y="0"/>
                </a:lnTo>
                <a:lnTo>
                  <a:pt x="549399" y="563562"/>
                </a:lnTo>
                <a:lnTo>
                  <a:pt x="0" y="5635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 dirty="0"/>
          </a:p>
        </p:txBody>
      </p:sp>
      <p:sp>
        <p:nvSpPr>
          <p:cNvPr id="5" name="Freeform 5"/>
          <p:cNvSpPr/>
          <p:nvPr/>
        </p:nvSpPr>
        <p:spPr>
          <a:xfrm>
            <a:off x="8827269" y="4801793"/>
            <a:ext cx="683480" cy="562964"/>
          </a:xfrm>
          <a:custGeom>
            <a:avLst/>
            <a:gdLst/>
            <a:ahLst/>
            <a:cxnLst/>
            <a:rect l="l" t="t" r="r" b="b"/>
            <a:pathLst>
              <a:path w="549399" h="563562">
                <a:moveTo>
                  <a:pt x="0" y="0"/>
                </a:moveTo>
                <a:lnTo>
                  <a:pt x="549398" y="0"/>
                </a:lnTo>
                <a:lnTo>
                  <a:pt x="549398" y="563562"/>
                </a:lnTo>
                <a:lnTo>
                  <a:pt x="0" y="5635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1829393" y="4844373"/>
            <a:ext cx="683480" cy="562964"/>
          </a:xfrm>
          <a:custGeom>
            <a:avLst/>
            <a:gdLst/>
            <a:ahLst/>
            <a:cxnLst/>
            <a:rect l="l" t="t" r="r" b="b"/>
            <a:pathLst>
              <a:path w="549399" h="563562">
                <a:moveTo>
                  <a:pt x="0" y="0"/>
                </a:moveTo>
                <a:lnTo>
                  <a:pt x="549399" y="0"/>
                </a:lnTo>
                <a:lnTo>
                  <a:pt x="549399" y="563562"/>
                </a:lnTo>
                <a:lnTo>
                  <a:pt x="0" y="5635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 dirty="0"/>
          </a:p>
        </p:txBody>
      </p:sp>
      <p:sp>
        <p:nvSpPr>
          <p:cNvPr id="7" name="Freeform 7"/>
          <p:cNvSpPr/>
          <p:nvPr/>
        </p:nvSpPr>
        <p:spPr>
          <a:xfrm>
            <a:off x="14742388" y="4862018"/>
            <a:ext cx="683480" cy="562964"/>
          </a:xfrm>
          <a:custGeom>
            <a:avLst/>
            <a:gdLst/>
            <a:ahLst/>
            <a:cxnLst/>
            <a:rect l="l" t="t" r="r" b="b"/>
            <a:pathLst>
              <a:path w="549399" h="563562">
                <a:moveTo>
                  <a:pt x="0" y="0"/>
                </a:moveTo>
                <a:lnTo>
                  <a:pt x="549399" y="0"/>
                </a:lnTo>
                <a:lnTo>
                  <a:pt x="549399" y="563562"/>
                </a:lnTo>
                <a:lnTo>
                  <a:pt x="0" y="5635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 dirty="0"/>
          </a:p>
        </p:txBody>
      </p:sp>
      <p:sp>
        <p:nvSpPr>
          <p:cNvPr id="8" name="TextBox 8"/>
          <p:cNvSpPr txBox="1"/>
          <p:nvPr/>
        </p:nvSpPr>
        <p:spPr>
          <a:xfrm>
            <a:off x="1028700" y="1000125"/>
            <a:ext cx="9111457" cy="676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15"/>
              </a:lnSpc>
            </a:pPr>
            <a:r>
              <a:rPr lang="en-US" sz="4499" b="1" dirty="0">
                <a:latin typeface="Inter Bold"/>
                <a:ea typeface="Inter Bold"/>
                <a:cs typeface="Inter Bold"/>
                <a:sym typeface="Inter Bold"/>
              </a:rPr>
              <a:t>Proposed Decision-Support Flow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2117159"/>
            <a:ext cx="8405089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29"/>
              </a:lnSpc>
            </a:pPr>
            <a:r>
              <a:rPr lang="en-US" sz="2499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Analytics should connect data inputs to planning action.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259936" y="3845645"/>
            <a:ext cx="2839269" cy="2593554"/>
            <a:chOff x="0" y="0"/>
            <a:chExt cx="3043039" cy="3461744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0"/>
              <a:ext cx="3043039" cy="3461744"/>
              <a:chOff x="0" y="0"/>
              <a:chExt cx="829867" cy="944051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829867" cy="944051"/>
              </a:xfrm>
              <a:custGeom>
                <a:avLst/>
                <a:gdLst/>
                <a:ahLst/>
                <a:cxnLst/>
                <a:rect l="l" t="t" r="r" b="b"/>
                <a:pathLst>
                  <a:path w="829867" h="944051">
                    <a:moveTo>
                      <a:pt x="163993" y="0"/>
                    </a:moveTo>
                    <a:lnTo>
                      <a:pt x="665874" y="0"/>
                    </a:lnTo>
                    <a:cubicBezTo>
                      <a:pt x="756444" y="0"/>
                      <a:pt x="829867" y="73422"/>
                      <a:pt x="829867" y="163993"/>
                    </a:cubicBezTo>
                    <a:lnTo>
                      <a:pt x="829867" y="780058"/>
                    </a:lnTo>
                    <a:cubicBezTo>
                      <a:pt x="829867" y="870629"/>
                      <a:pt x="756444" y="944051"/>
                      <a:pt x="665874" y="944051"/>
                    </a:cubicBezTo>
                    <a:lnTo>
                      <a:pt x="163993" y="944051"/>
                    </a:lnTo>
                    <a:cubicBezTo>
                      <a:pt x="120499" y="944051"/>
                      <a:pt x="78787" y="926774"/>
                      <a:pt x="48032" y="896019"/>
                    </a:cubicBezTo>
                    <a:cubicBezTo>
                      <a:pt x="17278" y="865264"/>
                      <a:pt x="0" y="823552"/>
                      <a:pt x="0" y="780058"/>
                    </a:cubicBezTo>
                    <a:lnTo>
                      <a:pt x="0" y="163993"/>
                    </a:lnTo>
                    <a:cubicBezTo>
                      <a:pt x="0" y="73422"/>
                      <a:pt x="73422" y="0"/>
                      <a:pt x="163993" y="0"/>
                    </a:cubicBezTo>
                    <a:close/>
                  </a:path>
                </a:pathLst>
              </a:custGeom>
              <a:ln w="57150" cap="rnd">
                <a:solidFill>
                  <a:srgbClr val="8B1E2D"/>
                </a:solidFill>
                <a:prstDash val="solid"/>
                <a:round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85725"/>
                <a:ext cx="829867" cy="10297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989"/>
                  </a:lnSpc>
                </a:pPr>
                <a:endParaRPr/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878688" y="326503"/>
              <a:ext cx="1285663" cy="5099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11"/>
                </a:lnSpc>
              </a:pPr>
              <a:r>
                <a:rPr lang="en-US" sz="2493" b="1">
                  <a:solidFill>
                    <a:srgbClr val="8B1E2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Inputs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59312" y="1034117"/>
              <a:ext cx="2524415" cy="17713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80"/>
                </a:lnSpc>
              </a:pPr>
              <a:r>
                <a:rPr lang="en-US" sz="1561" dirty="0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Weather</a:t>
              </a:r>
            </a:p>
            <a:p>
              <a:pPr algn="ctr">
                <a:lnSpc>
                  <a:spcPts val="2080"/>
                </a:lnSpc>
              </a:pPr>
              <a:r>
                <a:rPr lang="en-US" sz="1561" dirty="0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Demand</a:t>
              </a:r>
            </a:p>
            <a:p>
              <a:pPr algn="ctr">
                <a:lnSpc>
                  <a:spcPts val="2080"/>
                </a:lnSpc>
              </a:pPr>
              <a:r>
                <a:rPr lang="en-US" sz="1561" dirty="0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Generation</a:t>
              </a:r>
            </a:p>
            <a:p>
              <a:pPr algn="ctr">
                <a:lnSpc>
                  <a:spcPts val="2080"/>
                </a:lnSpc>
              </a:pPr>
              <a:r>
                <a:rPr lang="en-US" sz="1561" dirty="0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Calendar</a:t>
              </a:r>
            </a:p>
            <a:p>
              <a:pPr algn="ctr">
                <a:lnSpc>
                  <a:spcPts val="2080"/>
                </a:lnSpc>
              </a:pPr>
              <a:r>
                <a:rPr lang="en-US" sz="1561" dirty="0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Fuel / Policy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239755" y="3845645"/>
            <a:ext cx="2839269" cy="2593554"/>
            <a:chOff x="0" y="0"/>
            <a:chExt cx="3043039" cy="3461744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3043039" cy="3461744"/>
              <a:chOff x="0" y="0"/>
              <a:chExt cx="829867" cy="944051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829867" cy="944051"/>
              </a:xfrm>
              <a:custGeom>
                <a:avLst/>
                <a:gdLst/>
                <a:ahLst/>
                <a:cxnLst/>
                <a:rect l="l" t="t" r="r" b="b"/>
                <a:pathLst>
                  <a:path w="829867" h="944051">
                    <a:moveTo>
                      <a:pt x="163993" y="0"/>
                    </a:moveTo>
                    <a:lnTo>
                      <a:pt x="665874" y="0"/>
                    </a:lnTo>
                    <a:cubicBezTo>
                      <a:pt x="756444" y="0"/>
                      <a:pt x="829867" y="73422"/>
                      <a:pt x="829867" y="163993"/>
                    </a:cubicBezTo>
                    <a:lnTo>
                      <a:pt x="829867" y="780058"/>
                    </a:lnTo>
                    <a:cubicBezTo>
                      <a:pt x="829867" y="870629"/>
                      <a:pt x="756444" y="944051"/>
                      <a:pt x="665874" y="944051"/>
                    </a:cubicBezTo>
                    <a:lnTo>
                      <a:pt x="163993" y="944051"/>
                    </a:lnTo>
                    <a:cubicBezTo>
                      <a:pt x="120499" y="944051"/>
                      <a:pt x="78787" y="926774"/>
                      <a:pt x="48032" y="896019"/>
                    </a:cubicBezTo>
                    <a:cubicBezTo>
                      <a:pt x="17278" y="865264"/>
                      <a:pt x="0" y="823552"/>
                      <a:pt x="0" y="780058"/>
                    </a:cubicBezTo>
                    <a:lnTo>
                      <a:pt x="0" y="163993"/>
                    </a:lnTo>
                    <a:cubicBezTo>
                      <a:pt x="0" y="73422"/>
                      <a:pt x="73422" y="0"/>
                      <a:pt x="163993" y="0"/>
                    </a:cubicBezTo>
                    <a:close/>
                  </a:path>
                </a:pathLst>
              </a:custGeom>
              <a:ln w="57150" cap="rnd">
                <a:solidFill>
                  <a:srgbClr val="8B1E2D"/>
                </a:solidFill>
                <a:prstDash val="solid"/>
                <a:round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0" y="-85725"/>
                <a:ext cx="829867" cy="10297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989"/>
                  </a:lnSpc>
                </a:pPr>
                <a:endParaRPr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224519" y="326503"/>
              <a:ext cx="2348765" cy="10245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1"/>
                </a:lnSpc>
              </a:pPr>
              <a:r>
                <a:rPr lang="en-US" sz="2493" b="1">
                  <a:solidFill>
                    <a:srgbClr val="8B1E2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Data </a:t>
              </a:r>
            </a:p>
            <a:p>
              <a:pPr algn="ctr">
                <a:lnSpc>
                  <a:spcPts val="3111"/>
                </a:lnSpc>
              </a:pPr>
              <a:r>
                <a:rPr lang="en-US" sz="2493" b="1">
                  <a:solidFill>
                    <a:srgbClr val="8B1E2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Warehouse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59312" y="1755862"/>
              <a:ext cx="2524415" cy="6823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80"/>
                </a:lnSpc>
              </a:pPr>
              <a:r>
                <a:rPr lang="en-US" sz="1561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Stores</a:t>
              </a:r>
            </a:p>
            <a:p>
              <a:pPr algn="ctr">
                <a:lnSpc>
                  <a:spcPts val="2080"/>
                </a:lnSpc>
              </a:pPr>
              <a:r>
                <a:rPr lang="en-US" sz="1561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Planniig data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217736" y="3845645"/>
            <a:ext cx="2839269" cy="2593554"/>
            <a:chOff x="0" y="0"/>
            <a:chExt cx="3043039" cy="3461744"/>
          </a:xfrm>
        </p:grpSpPr>
        <p:grpSp>
          <p:nvGrpSpPr>
            <p:cNvPr id="23" name="Group 23"/>
            <p:cNvGrpSpPr/>
            <p:nvPr/>
          </p:nvGrpSpPr>
          <p:grpSpPr>
            <a:xfrm>
              <a:off x="0" y="0"/>
              <a:ext cx="3043039" cy="3461744"/>
              <a:chOff x="0" y="0"/>
              <a:chExt cx="829867" cy="944051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829867" cy="944051"/>
              </a:xfrm>
              <a:custGeom>
                <a:avLst/>
                <a:gdLst/>
                <a:ahLst/>
                <a:cxnLst/>
                <a:rect l="l" t="t" r="r" b="b"/>
                <a:pathLst>
                  <a:path w="829867" h="944051">
                    <a:moveTo>
                      <a:pt x="163993" y="0"/>
                    </a:moveTo>
                    <a:lnTo>
                      <a:pt x="665874" y="0"/>
                    </a:lnTo>
                    <a:cubicBezTo>
                      <a:pt x="756444" y="0"/>
                      <a:pt x="829867" y="73422"/>
                      <a:pt x="829867" y="163993"/>
                    </a:cubicBezTo>
                    <a:lnTo>
                      <a:pt x="829867" y="780058"/>
                    </a:lnTo>
                    <a:cubicBezTo>
                      <a:pt x="829867" y="870629"/>
                      <a:pt x="756444" y="944051"/>
                      <a:pt x="665874" y="944051"/>
                    </a:cubicBezTo>
                    <a:lnTo>
                      <a:pt x="163993" y="944051"/>
                    </a:lnTo>
                    <a:cubicBezTo>
                      <a:pt x="120499" y="944051"/>
                      <a:pt x="78787" y="926774"/>
                      <a:pt x="48032" y="896019"/>
                    </a:cubicBezTo>
                    <a:cubicBezTo>
                      <a:pt x="17278" y="865264"/>
                      <a:pt x="0" y="823552"/>
                      <a:pt x="0" y="780058"/>
                    </a:cubicBezTo>
                    <a:lnTo>
                      <a:pt x="0" y="163993"/>
                    </a:lnTo>
                    <a:cubicBezTo>
                      <a:pt x="0" y="73422"/>
                      <a:pt x="73422" y="0"/>
                      <a:pt x="163993" y="0"/>
                    </a:cubicBezTo>
                    <a:close/>
                  </a:path>
                </a:pathLst>
              </a:custGeom>
              <a:ln w="57150" cap="rnd">
                <a:solidFill>
                  <a:srgbClr val="8B1E2D"/>
                </a:solidFill>
                <a:prstDash val="solid"/>
                <a:round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0" y="-85725"/>
                <a:ext cx="829867" cy="10297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989"/>
                  </a:lnSpc>
                </a:pPr>
                <a:endParaRPr/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379381" y="330578"/>
              <a:ext cx="2290453" cy="10245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1"/>
                </a:lnSpc>
              </a:pPr>
              <a:r>
                <a:rPr lang="en-US" sz="2493" b="1">
                  <a:solidFill>
                    <a:srgbClr val="8B1E2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Pre-</a:t>
              </a:r>
            </a:p>
            <a:p>
              <a:pPr algn="ctr">
                <a:lnSpc>
                  <a:spcPts val="3111"/>
                </a:lnSpc>
              </a:pPr>
              <a:r>
                <a:rPr lang="en-US" sz="2493" b="1">
                  <a:solidFill>
                    <a:srgbClr val="8B1E2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Processing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62400" y="1755862"/>
              <a:ext cx="2524415" cy="6823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80"/>
                </a:lnSpc>
              </a:pPr>
              <a:r>
                <a:rPr lang="en-US" sz="1561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Clean and</a:t>
              </a:r>
            </a:p>
            <a:p>
              <a:pPr algn="ctr">
                <a:lnSpc>
                  <a:spcPts val="2080"/>
                </a:lnSpc>
              </a:pPr>
              <a:r>
                <a:rPr lang="en-US" sz="1561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Structure data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195717" y="3845645"/>
            <a:ext cx="2839269" cy="2593554"/>
            <a:chOff x="0" y="0"/>
            <a:chExt cx="3043039" cy="3461744"/>
          </a:xfrm>
        </p:grpSpPr>
        <p:grpSp>
          <p:nvGrpSpPr>
            <p:cNvPr id="29" name="Group 29"/>
            <p:cNvGrpSpPr/>
            <p:nvPr/>
          </p:nvGrpSpPr>
          <p:grpSpPr>
            <a:xfrm>
              <a:off x="0" y="0"/>
              <a:ext cx="3043039" cy="3461744"/>
              <a:chOff x="0" y="0"/>
              <a:chExt cx="829867" cy="944051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829867" cy="944051"/>
              </a:xfrm>
              <a:custGeom>
                <a:avLst/>
                <a:gdLst/>
                <a:ahLst/>
                <a:cxnLst/>
                <a:rect l="l" t="t" r="r" b="b"/>
                <a:pathLst>
                  <a:path w="829867" h="944051">
                    <a:moveTo>
                      <a:pt x="163993" y="0"/>
                    </a:moveTo>
                    <a:lnTo>
                      <a:pt x="665874" y="0"/>
                    </a:lnTo>
                    <a:cubicBezTo>
                      <a:pt x="756444" y="0"/>
                      <a:pt x="829867" y="73422"/>
                      <a:pt x="829867" y="163993"/>
                    </a:cubicBezTo>
                    <a:lnTo>
                      <a:pt x="829867" y="780058"/>
                    </a:lnTo>
                    <a:cubicBezTo>
                      <a:pt x="829867" y="870629"/>
                      <a:pt x="756444" y="944051"/>
                      <a:pt x="665874" y="944051"/>
                    </a:cubicBezTo>
                    <a:lnTo>
                      <a:pt x="163993" y="944051"/>
                    </a:lnTo>
                    <a:cubicBezTo>
                      <a:pt x="120499" y="944051"/>
                      <a:pt x="78787" y="926774"/>
                      <a:pt x="48032" y="896019"/>
                    </a:cubicBezTo>
                    <a:cubicBezTo>
                      <a:pt x="17278" y="865264"/>
                      <a:pt x="0" y="823552"/>
                      <a:pt x="0" y="780058"/>
                    </a:cubicBezTo>
                    <a:lnTo>
                      <a:pt x="0" y="163993"/>
                    </a:lnTo>
                    <a:cubicBezTo>
                      <a:pt x="0" y="73422"/>
                      <a:pt x="73422" y="0"/>
                      <a:pt x="163993" y="0"/>
                    </a:cubicBezTo>
                    <a:close/>
                  </a:path>
                </a:pathLst>
              </a:custGeom>
              <a:ln w="57150" cap="rnd">
                <a:solidFill>
                  <a:srgbClr val="8B1E2D"/>
                </a:solidFill>
                <a:prstDash val="solid"/>
                <a:round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0" y="-85725"/>
                <a:ext cx="829867" cy="10297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989"/>
                  </a:lnSpc>
                </a:pPr>
                <a:endParaRPr/>
              </a:p>
            </p:txBody>
          </p:sp>
        </p:grpSp>
        <p:sp>
          <p:nvSpPr>
            <p:cNvPr id="32" name="TextBox 32"/>
            <p:cNvSpPr txBox="1"/>
            <p:nvPr/>
          </p:nvSpPr>
          <p:spPr>
            <a:xfrm>
              <a:off x="727014" y="326503"/>
              <a:ext cx="1589012" cy="10245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1"/>
                </a:lnSpc>
              </a:pPr>
              <a:r>
                <a:rPr lang="en-US" sz="2493" b="1">
                  <a:solidFill>
                    <a:srgbClr val="8B1E2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ML Risk</a:t>
              </a:r>
            </a:p>
            <a:p>
              <a:pPr algn="ctr">
                <a:lnSpc>
                  <a:spcPts val="3111"/>
                </a:lnSpc>
              </a:pPr>
              <a:r>
                <a:rPr lang="en-US" sz="2493" b="1">
                  <a:solidFill>
                    <a:srgbClr val="8B1E2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Model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00572" y="1755862"/>
              <a:ext cx="2641896" cy="6823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80"/>
                </a:lnSpc>
              </a:pPr>
              <a:r>
                <a:rPr lang="en-US" sz="1561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Classifies</a:t>
              </a:r>
            </a:p>
            <a:p>
              <a:pPr algn="ctr">
                <a:lnSpc>
                  <a:spcPts val="2080"/>
                </a:lnSpc>
              </a:pPr>
              <a:r>
                <a:rPr lang="en-US" sz="1561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Low / Medium / High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2173698" y="3845645"/>
            <a:ext cx="2839269" cy="2593554"/>
            <a:chOff x="0" y="0"/>
            <a:chExt cx="3043039" cy="3461744"/>
          </a:xfrm>
        </p:grpSpPr>
        <p:grpSp>
          <p:nvGrpSpPr>
            <p:cNvPr id="35" name="Group 35"/>
            <p:cNvGrpSpPr/>
            <p:nvPr/>
          </p:nvGrpSpPr>
          <p:grpSpPr>
            <a:xfrm>
              <a:off x="0" y="0"/>
              <a:ext cx="3043039" cy="3461744"/>
              <a:chOff x="0" y="0"/>
              <a:chExt cx="829867" cy="944051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829867" cy="944051"/>
              </a:xfrm>
              <a:custGeom>
                <a:avLst/>
                <a:gdLst/>
                <a:ahLst/>
                <a:cxnLst/>
                <a:rect l="l" t="t" r="r" b="b"/>
                <a:pathLst>
                  <a:path w="829867" h="944051">
                    <a:moveTo>
                      <a:pt x="163993" y="0"/>
                    </a:moveTo>
                    <a:lnTo>
                      <a:pt x="665874" y="0"/>
                    </a:lnTo>
                    <a:cubicBezTo>
                      <a:pt x="756444" y="0"/>
                      <a:pt x="829867" y="73422"/>
                      <a:pt x="829867" y="163993"/>
                    </a:cubicBezTo>
                    <a:lnTo>
                      <a:pt x="829867" y="780058"/>
                    </a:lnTo>
                    <a:cubicBezTo>
                      <a:pt x="829867" y="870629"/>
                      <a:pt x="756444" y="944051"/>
                      <a:pt x="665874" y="944051"/>
                    </a:cubicBezTo>
                    <a:lnTo>
                      <a:pt x="163993" y="944051"/>
                    </a:lnTo>
                    <a:cubicBezTo>
                      <a:pt x="120499" y="944051"/>
                      <a:pt x="78787" y="926774"/>
                      <a:pt x="48032" y="896019"/>
                    </a:cubicBezTo>
                    <a:cubicBezTo>
                      <a:pt x="17278" y="865264"/>
                      <a:pt x="0" y="823552"/>
                      <a:pt x="0" y="780058"/>
                    </a:cubicBezTo>
                    <a:lnTo>
                      <a:pt x="0" y="163993"/>
                    </a:lnTo>
                    <a:cubicBezTo>
                      <a:pt x="0" y="73422"/>
                      <a:pt x="73422" y="0"/>
                      <a:pt x="163993" y="0"/>
                    </a:cubicBezTo>
                    <a:close/>
                  </a:path>
                </a:pathLst>
              </a:custGeom>
              <a:ln w="57150" cap="rnd">
                <a:solidFill>
                  <a:srgbClr val="8B1E2D"/>
                </a:solidFill>
                <a:prstDash val="solid"/>
                <a:round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0" y="-85725"/>
                <a:ext cx="829867" cy="10297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989"/>
                  </a:lnSpc>
                </a:pPr>
                <a:endParaRPr/>
              </a:p>
            </p:txBody>
          </p:sp>
        </p:grpSp>
        <p:sp>
          <p:nvSpPr>
            <p:cNvPr id="38" name="TextBox 38"/>
            <p:cNvSpPr txBox="1"/>
            <p:nvPr/>
          </p:nvSpPr>
          <p:spPr>
            <a:xfrm>
              <a:off x="406390" y="326503"/>
              <a:ext cx="2230259" cy="10245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1"/>
                </a:lnSpc>
              </a:pPr>
              <a:r>
                <a:rPr lang="en-US" sz="2493" b="1">
                  <a:solidFill>
                    <a:srgbClr val="8B1E2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Decision</a:t>
              </a:r>
            </a:p>
            <a:p>
              <a:pPr algn="ctr">
                <a:lnSpc>
                  <a:spcPts val="3111"/>
                </a:lnSpc>
              </a:pPr>
              <a:r>
                <a:rPr lang="en-US" sz="2493" b="1">
                  <a:solidFill>
                    <a:srgbClr val="8B1E2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Dashboard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73371" y="1653622"/>
              <a:ext cx="2524415" cy="6823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80"/>
                </a:lnSpc>
              </a:pPr>
              <a:r>
                <a:rPr lang="en-US" sz="1561" dirty="0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Shows risk</a:t>
              </a:r>
            </a:p>
            <a:p>
              <a:pPr algn="ctr">
                <a:lnSpc>
                  <a:spcPts val="2080"/>
                </a:lnSpc>
              </a:pPr>
              <a:r>
                <a:rPr lang="en-US" sz="1561" dirty="0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and drivers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5151678" y="3845645"/>
            <a:ext cx="2839269" cy="2593554"/>
            <a:chOff x="0" y="0"/>
            <a:chExt cx="3043039" cy="3461744"/>
          </a:xfrm>
        </p:grpSpPr>
        <p:grpSp>
          <p:nvGrpSpPr>
            <p:cNvPr id="41" name="Group 41"/>
            <p:cNvGrpSpPr/>
            <p:nvPr/>
          </p:nvGrpSpPr>
          <p:grpSpPr>
            <a:xfrm>
              <a:off x="0" y="0"/>
              <a:ext cx="3043039" cy="3461744"/>
              <a:chOff x="0" y="0"/>
              <a:chExt cx="829867" cy="944051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829867" cy="944051"/>
              </a:xfrm>
              <a:custGeom>
                <a:avLst/>
                <a:gdLst/>
                <a:ahLst/>
                <a:cxnLst/>
                <a:rect l="l" t="t" r="r" b="b"/>
                <a:pathLst>
                  <a:path w="829867" h="944051">
                    <a:moveTo>
                      <a:pt x="163993" y="0"/>
                    </a:moveTo>
                    <a:lnTo>
                      <a:pt x="665874" y="0"/>
                    </a:lnTo>
                    <a:cubicBezTo>
                      <a:pt x="756444" y="0"/>
                      <a:pt x="829867" y="73422"/>
                      <a:pt x="829867" y="163993"/>
                    </a:cubicBezTo>
                    <a:lnTo>
                      <a:pt x="829867" y="780058"/>
                    </a:lnTo>
                    <a:cubicBezTo>
                      <a:pt x="829867" y="870629"/>
                      <a:pt x="756444" y="944051"/>
                      <a:pt x="665874" y="944051"/>
                    </a:cubicBezTo>
                    <a:lnTo>
                      <a:pt x="163993" y="944051"/>
                    </a:lnTo>
                    <a:cubicBezTo>
                      <a:pt x="120499" y="944051"/>
                      <a:pt x="78787" y="926774"/>
                      <a:pt x="48032" y="896019"/>
                    </a:cubicBezTo>
                    <a:cubicBezTo>
                      <a:pt x="17278" y="865264"/>
                      <a:pt x="0" y="823552"/>
                      <a:pt x="0" y="780058"/>
                    </a:cubicBezTo>
                    <a:lnTo>
                      <a:pt x="0" y="163993"/>
                    </a:lnTo>
                    <a:cubicBezTo>
                      <a:pt x="0" y="73422"/>
                      <a:pt x="73422" y="0"/>
                      <a:pt x="163993" y="0"/>
                    </a:cubicBezTo>
                    <a:close/>
                  </a:path>
                </a:pathLst>
              </a:custGeom>
              <a:ln w="57150" cap="rnd">
                <a:solidFill>
                  <a:srgbClr val="8B1E2D"/>
                </a:solidFill>
                <a:prstDash val="solid"/>
                <a:round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0" y="-85725"/>
                <a:ext cx="829867" cy="10297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989"/>
                  </a:lnSpc>
                </a:pPr>
                <a:endParaRPr/>
              </a:p>
            </p:txBody>
          </p:sp>
        </p:grpSp>
        <p:sp>
          <p:nvSpPr>
            <p:cNvPr id="44" name="TextBox 44"/>
            <p:cNvSpPr txBox="1"/>
            <p:nvPr/>
          </p:nvSpPr>
          <p:spPr>
            <a:xfrm>
              <a:off x="698018" y="374151"/>
              <a:ext cx="1647004" cy="5099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11"/>
                </a:lnSpc>
              </a:pPr>
              <a:r>
                <a:rPr lang="en-US" sz="2493" b="1">
                  <a:solidFill>
                    <a:srgbClr val="8B1E2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Outputs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6481" y="1394152"/>
              <a:ext cx="2857153" cy="13806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80"/>
                </a:lnSpc>
              </a:pPr>
              <a:r>
                <a:rPr lang="en-US" sz="1561" dirty="0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Peak alerts</a:t>
              </a:r>
            </a:p>
            <a:p>
              <a:pPr algn="ctr">
                <a:lnSpc>
                  <a:spcPts val="2080"/>
                </a:lnSpc>
              </a:pPr>
              <a:r>
                <a:rPr lang="en-US" sz="1561" dirty="0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Generation scheduling</a:t>
              </a:r>
            </a:p>
            <a:p>
              <a:pPr algn="ctr">
                <a:lnSpc>
                  <a:spcPts val="2080"/>
                </a:lnSpc>
              </a:pPr>
              <a:r>
                <a:rPr lang="en-US" sz="1561" dirty="0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Renewable Balancing</a:t>
              </a:r>
            </a:p>
            <a:p>
              <a:pPr algn="ctr">
                <a:lnSpc>
                  <a:spcPts val="2080"/>
                </a:lnSpc>
              </a:pPr>
              <a:endParaRPr lang="en-US" sz="1561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3228788" y="8224420"/>
            <a:ext cx="11832363" cy="1033880"/>
            <a:chOff x="0" y="0"/>
            <a:chExt cx="15776484" cy="1378507"/>
          </a:xfrm>
        </p:grpSpPr>
        <p:grpSp>
          <p:nvGrpSpPr>
            <p:cNvPr id="47" name="Group 47"/>
            <p:cNvGrpSpPr/>
            <p:nvPr/>
          </p:nvGrpSpPr>
          <p:grpSpPr>
            <a:xfrm>
              <a:off x="0" y="0"/>
              <a:ext cx="15776484" cy="1378507"/>
              <a:chOff x="0" y="0"/>
              <a:chExt cx="3116343" cy="272298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0" y="0"/>
                <a:ext cx="3116343" cy="272298"/>
              </a:xfrm>
              <a:custGeom>
                <a:avLst/>
                <a:gdLst/>
                <a:ahLst/>
                <a:cxnLst/>
                <a:rect l="l" t="t" r="r" b="b"/>
                <a:pathLst>
                  <a:path w="3116343" h="272298">
                    <a:moveTo>
                      <a:pt x="22246" y="0"/>
                    </a:moveTo>
                    <a:lnTo>
                      <a:pt x="3094096" y="0"/>
                    </a:lnTo>
                    <a:cubicBezTo>
                      <a:pt x="3099996" y="0"/>
                      <a:pt x="3105655" y="2344"/>
                      <a:pt x="3109827" y="6516"/>
                    </a:cubicBezTo>
                    <a:cubicBezTo>
                      <a:pt x="3113999" y="10688"/>
                      <a:pt x="3116343" y="16346"/>
                      <a:pt x="3116343" y="22246"/>
                    </a:cubicBezTo>
                    <a:lnTo>
                      <a:pt x="3116343" y="250051"/>
                    </a:lnTo>
                    <a:cubicBezTo>
                      <a:pt x="3116343" y="255951"/>
                      <a:pt x="3113999" y="261610"/>
                      <a:pt x="3109827" y="265782"/>
                    </a:cubicBezTo>
                    <a:cubicBezTo>
                      <a:pt x="3105655" y="269954"/>
                      <a:pt x="3099996" y="272298"/>
                      <a:pt x="3094096" y="272298"/>
                    </a:cubicBezTo>
                    <a:lnTo>
                      <a:pt x="22246" y="272298"/>
                    </a:lnTo>
                    <a:cubicBezTo>
                      <a:pt x="9960" y="272298"/>
                      <a:pt x="0" y="262338"/>
                      <a:pt x="0" y="250051"/>
                    </a:cubicBezTo>
                    <a:lnTo>
                      <a:pt x="0" y="22246"/>
                    </a:lnTo>
                    <a:cubicBezTo>
                      <a:pt x="0" y="16346"/>
                      <a:pt x="2344" y="10688"/>
                      <a:pt x="6516" y="6516"/>
                    </a:cubicBezTo>
                    <a:cubicBezTo>
                      <a:pt x="10688" y="2344"/>
                      <a:pt x="16346" y="0"/>
                      <a:pt x="22246" y="0"/>
                    </a:cubicBezTo>
                    <a:close/>
                  </a:path>
                </a:pathLst>
              </a:custGeom>
              <a:solidFill>
                <a:srgbClr val="FFF4C2"/>
              </a:solidFill>
              <a:ln w="38100" cap="rnd">
                <a:solidFill>
                  <a:srgbClr val="DADBF1"/>
                </a:solidFill>
                <a:prstDash val="solid"/>
                <a:round/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0" y="-85725"/>
                <a:ext cx="3116343" cy="35802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989"/>
                  </a:lnSpc>
                </a:pPr>
                <a:endParaRPr/>
              </a:p>
            </p:txBody>
          </p:sp>
        </p:grpSp>
        <p:sp>
          <p:nvSpPr>
            <p:cNvPr id="50" name="TextBox 50"/>
            <p:cNvSpPr txBox="1"/>
            <p:nvPr/>
          </p:nvSpPr>
          <p:spPr>
            <a:xfrm>
              <a:off x="273557" y="426920"/>
              <a:ext cx="15247990" cy="4960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95"/>
                </a:lnSpc>
              </a:pPr>
              <a:r>
                <a:rPr lang="en-US" sz="2323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The model only becomes useful when its output is connected to planning decisions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604761"/>
            <a:ext cx="11584781" cy="90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Dataset Used for the Prototype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79948" y="1730858"/>
            <a:ext cx="17217923" cy="553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87"/>
              </a:lnSpc>
            </a:pPr>
            <a:r>
              <a:rPr lang="en-US" sz="2999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This is an academic prototype, not a live CEB forecasting system.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29726" y="3135082"/>
            <a:ext cx="8214274" cy="3242377"/>
            <a:chOff x="0" y="0"/>
            <a:chExt cx="10952366" cy="4323169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10952366" cy="4323169"/>
              <a:chOff x="0" y="0"/>
              <a:chExt cx="10952366" cy="4323169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0952353" cy="4323153"/>
              </a:xfrm>
              <a:custGeom>
                <a:avLst/>
                <a:gdLst/>
                <a:ahLst/>
                <a:cxnLst/>
                <a:rect l="l" t="t" r="r" b="b"/>
                <a:pathLst>
                  <a:path w="10952353" h="4323153">
                    <a:moveTo>
                      <a:pt x="0" y="165906"/>
                    </a:moveTo>
                    <a:cubicBezTo>
                      <a:pt x="0" y="74321"/>
                      <a:pt x="121920" y="0"/>
                      <a:pt x="272161" y="0"/>
                    </a:cubicBezTo>
                    <a:lnTo>
                      <a:pt x="10680192" y="0"/>
                    </a:lnTo>
                    <a:cubicBezTo>
                      <a:pt x="10830561" y="0"/>
                      <a:pt x="10952353" y="74321"/>
                      <a:pt x="10952353" y="165906"/>
                    </a:cubicBezTo>
                    <a:lnTo>
                      <a:pt x="10952353" y="4157247"/>
                    </a:lnTo>
                    <a:cubicBezTo>
                      <a:pt x="10952353" y="4248910"/>
                      <a:pt x="10830433" y="4323153"/>
                      <a:pt x="10680192" y="4323153"/>
                    </a:cubicBezTo>
                    <a:lnTo>
                      <a:pt x="272161" y="4323153"/>
                    </a:lnTo>
                    <a:cubicBezTo>
                      <a:pt x="121920" y="4323153"/>
                      <a:pt x="0" y="4248910"/>
                      <a:pt x="0" y="4157247"/>
                    </a:cubicBezTo>
                    <a:close/>
                  </a:path>
                </a:pathLst>
              </a:custGeom>
              <a:solidFill>
                <a:srgbClr val="8B1E2D"/>
              </a:solidFill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378028" y="368503"/>
              <a:ext cx="1263650" cy="6074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43"/>
                </a:lnSpc>
              </a:pPr>
              <a:r>
                <a:rPr lang="en-US" sz="2999" b="1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Used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78028" y="1260881"/>
              <a:ext cx="10196309" cy="12642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03249" lvl="1" indent="-301625" algn="l">
                <a:lnSpc>
                  <a:spcPts val="3989"/>
                </a:lnSpc>
                <a:buFont typeface="Arial"/>
                <a:buChar char="•"/>
              </a:pPr>
              <a:r>
                <a:rPr lang="en-US" sz="2499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Synthetic daily dataset</a:t>
              </a:r>
            </a:p>
            <a:p>
              <a:pPr marL="603249" lvl="1" indent="-301625" algn="l">
                <a:lnSpc>
                  <a:spcPts val="3989"/>
                </a:lnSpc>
                <a:buFont typeface="Arial"/>
                <a:buChar char="•"/>
              </a:pPr>
              <a:r>
                <a:rPr lang="en-US" sz="2499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Calibrated to CEB 2024 anchor values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295210" y="3135082"/>
            <a:ext cx="8151771" cy="3242377"/>
            <a:chOff x="0" y="0"/>
            <a:chExt cx="10869028" cy="4323169"/>
          </a:xfrm>
        </p:grpSpPr>
        <p:grpSp>
          <p:nvGrpSpPr>
            <p:cNvPr id="14" name="Group 14"/>
            <p:cNvGrpSpPr/>
            <p:nvPr/>
          </p:nvGrpSpPr>
          <p:grpSpPr>
            <a:xfrm>
              <a:off x="0" y="0"/>
              <a:ext cx="10869028" cy="4323169"/>
              <a:chOff x="0" y="0"/>
              <a:chExt cx="12793905" cy="5088791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12793812" cy="5088699"/>
              </a:xfrm>
              <a:custGeom>
                <a:avLst/>
                <a:gdLst/>
                <a:ahLst/>
                <a:cxnLst/>
                <a:rect l="l" t="t" r="r" b="b"/>
                <a:pathLst>
                  <a:path w="12793812" h="5088699">
                    <a:moveTo>
                      <a:pt x="0" y="286875"/>
                    </a:moveTo>
                    <a:cubicBezTo>
                      <a:pt x="0" y="128520"/>
                      <a:pt x="87425" y="0"/>
                      <a:pt x="195144" y="0"/>
                    </a:cubicBezTo>
                    <a:lnTo>
                      <a:pt x="12598667" y="0"/>
                    </a:lnTo>
                    <a:cubicBezTo>
                      <a:pt x="12706387" y="0"/>
                      <a:pt x="12793812" y="128520"/>
                      <a:pt x="12793812" y="286875"/>
                    </a:cubicBezTo>
                    <a:lnTo>
                      <a:pt x="12793812" y="4801824"/>
                    </a:lnTo>
                    <a:cubicBezTo>
                      <a:pt x="12793812" y="4960179"/>
                      <a:pt x="12706387" y="5088699"/>
                      <a:pt x="12598667" y="5088699"/>
                    </a:cubicBezTo>
                    <a:lnTo>
                      <a:pt x="195144" y="5088699"/>
                    </a:lnTo>
                    <a:cubicBezTo>
                      <a:pt x="87425" y="5088699"/>
                      <a:pt x="0" y="4960179"/>
                      <a:pt x="0" y="4801824"/>
                    </a:cubicBezTo>
                    <a:close/>
                  </a:path>
                </a:pathLst>
              </a:custGeom>
              <a:solidFill>
                <a:srgbClr val="FFF4C2"/>
              </a:solidFill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461175" y="368503"/>
              <a:ext cx="2258351" cy="6074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43"/>
                </a:lnSpc>
              </a:pPr>
              <a:r>
                <a:rPr lang="en-US" sz="2999" b="1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Not Used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1175" y="1260881"/>
              <a:ext cx="10407853" cy="19373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03249" lvl="1" indent="-301625" algn="l">
                <a:lnSpc>
                  <a:spcPts val="3989"/>
                </a:lnSpc>
                <a:buFont typeface="Arial"/>
                <a:buChar char="•"/>
              </a:pPr>
              <a:r>
                <a:rPr lang="en-US" sz="2499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Internal CEB SCADA data</a:t>
              </a:r>
            </a:p>
            <a:p>
              <a:pPr marL="603249" lvl="1" indent="-301625" algn="l">
                <a:lnSpc>
                  <a:spcPts val="3989"/>
                </a:lnSpc>
                <a:buFont typeface="Arial"/>
                <a:buChar char="•"/>
              </a:pPr>
              <a:r>
                <a:rPr lang="en-US" sz="2499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Dispatch data</a:t>
              </a:r>
            </a:p>
            <a:p>
              <a:pPr marL="603249" lvl="1" indent="-301625" algn="l">
                <a:lnSpc>
                  <a:spcPts val="3989"/>
                </a:lnSpc>
                <a:buFont typeface="Arial"/>
                <a:buChar char="•"/>
              </a:pPr>
              <a:r>
                <a:rPr lang="en-US" sz="2499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Smart-meter data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29726" y="7660229"/>
            <a:ext cx="16471259" cy="2112016"/>
            <a:chOff x="0" y="0"/>
            <a:chExt cx="21961678" cy="281602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1961518" cy="2815971"/>
            </a:xfrm>
            <a:custGeom>
              <a:avLst/>
              <a:gdLst/>
              <a:ahLst/>
              <a:cxnLst/>
              <a:rect l="l" t="t" r="r" b="b"/>
              <a:pathLst>
                <a:path w="21961518" h="2815971">
                  <a:moveTo>
                    <a:pt x="0" y="158750"/>
                  </a:moveTo>
                  <a:cubicBezTo>
                    <a:pt x="0" y="71120"/>
                    <a:pt x="150071" y="0"/>
                    <a:pt x="334979" y="0"/>
                  </a:cubicBezTo>
                  <a:lnTo>
                    <a:pt x="21626539" y="0"/>
                  </a:lnTo>
                  <a:cubicBezTo>
                    <a:pt x="21811447" y="0"/>
                    <a:pt x="21961518" y="71120"/>
                    <a:pt x="21961518" y="158750"/>
                  </a:cubicBezTo>
                  <a:lnTo>
                    <a:pt x="21961518" y="2657221"/>
                  </a:lnTo>
                  <a:cubicBezTo>
                    <a:pt x="21961518" y="2744851"/>
                    <a:pt x="21811447" y="2815971"/>
                    <a:pt x="21626539" y="2815971"/>
                  </a:cubicBezTo>
                  <a:lnTo>
                    <a:pt x="334979" y="2815971"/>
                  </a:lnTo>
                  <a:cubicBezTo>
                    <a:pt x="150071" y="2815971"/>
                    <a:pt x="0" y="2744851"/>
                    <a:pt x="0" y="2657221"/>
                  </a:cubicBezTo>
                  <a:close/>
                </a:path>
              </a:pathLst>
            </a:custGeom>
            <a:solidFill>
              <a:srgbClr val="FFF4C2"/>
            </a:solidFill>
          </p:spPr>
        </p:sp>
      </p:grpSp>
      <p:sp>
        <p:nvSpPr>
          <p:cNvPr id="20" name="TextBox 20"/>
          <p:cNvSpPr txBox="1"/>
          <p:nvPr/>
        </p:nvSpPr>
        <p:spPr>
          <a:xfrm>
            <a:off x="1366138" y="8195382"/>
            <a:ext cx="15555725" cy="969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989"/>
              </a:lnSpc>
              <a:buFont typeface="Arial"/>
              <a:buChar char="•"/>
            </a:pPr>
            <a:r>
              <a:rPr lang="en-US" sz="24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The dataset supports the modelling demonstration but does not represent live CEB operational performance.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432235" y="2950136"/>
            <a:ext cx="8019612" cy="2610002"/>
            <a:chOff x="0" y="0"/>
            <a:chExt cx="10692816" cy="3480003"/>
          </a:xfrm>
        </p:grpSpPr>
        <p:sp>
          <p:nvSpPr>
            <p:cNvPr id="7" name="TextBox 7"/>
            <p:cNvSpPr txBox="1"/>
            <p:nvPr/>
          </p:nvSpPr>
          <p:spPr>
            <a:xfrm>
              <a:off x="284963" y="423075"/>
              <a:ext cx="5944591" cy="6000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69"/>
                </a:lnSpc>
              </a:pPr>
              <a:r>
                <a:rPr lang="en-US" sz="2700" b="1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EDA Checked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84963" y="1315441"/>
              <a:ext cx="10407853" cy="21645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30860" lvl="1" indent="-265430" algn="l">
                <a:lnSpc>
                  <a:spcPts val="3511"/>
                </a:lnSpc>
                <a:buFont typeface="Arial"/>
                <a:buChar char="•"/>
              </a:pPr>
              <a:r>
                <a:rPr lang="en-US" sz="2200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Demand variation</a:t>
              </a:r>
            </a:p>
            <a:p>
              <a:pPr marL="530860" lvl="1" indent="-265430" algn="l">
                <a:lnSpc>
                  <a:spcPts val="3511"/>
                </a:lnSpc>
                <a:buFont typeface="Arial"/>
                <a:buChar char="•"/>
              </a:pPr>
              <a:r>
                <a:rPr lang="en-US" sz="2200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Risk-label balance</a:t>
              </a:r>
            </a:p>
            <a:p>
              <a:pPr marL="530860" lvl="1" indent="-265430" algn="l">
                <a:lnSpc>
                  <a:spcPts val="3511"/>
                </a:lnSpc>
                <a:buFont typeface="Arial"/>
                <a:buChar char="•"/>
              </a:pPr>
              <a:r>
                <a:rPr lang="en-US" sz="2200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Daily demand vs night peak relationship</a:t>
              </a:r>
            </a:p>
          </p:txBody>
        </p:sp>
        <p:grpSp>
          <p:nvGrpSpPr>
            <p:cNvPr id="9" name="Group 9"/>
            <p:cNvGrpSpPr/>
            <p:nvPr/>
          </p:nvGrpSpPr>
          <p:grpSpPr>
            <a:xfrm>
              <a:off x="0" y="0"/>
              <a:ext cx="8233445" cy="3447073"/>
              <a:chOff x="0" y="0"/>
              <a:chExt cx="14475468" cy="6060403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4475451" cy="6060381"/>
              </a:xfrm>
              <a:custGeom>
                <a:avLst/>
                <a:gdLst/>
                <a:ahLst/>
                <a:cxnLst/>
                <a:rect l="l" t="t" r="r" b="b"/>
                <a:pathLst>
                  <a:path w="14475451" h="6060381">
                    <a:moveTo>
                      <a:pt x="0" y="232574"/>
                    </a:moveTo>
                    <a:cubicBezTo>
                      <a:pt x="0" y="104186"/>
                      <a:pt x="161139" y="0"/>
                      <a:pt x="359708" y="0"/>
                    </a:cubicBezTo>
                    <a:lnTo>
                      <a:pt x="14115743" y="0"/>
                    </a:lnTo>
                    <a:cubicBezTo>
                      <a:pt x="14314481" y="0"/>
                      <a:pt x="14475451" y="104186"/>
                      <a:pt x="14475451" y="232574"/>
                    </a:cubicBezTo>
                    <a:lnTo>
                      <a:pt x="14475451" y="5827807"/>
                    </a:lnTo>
                    <a:cubicBezTo>
                      <a:pt x="14475451" y="5956304"/>
                      <a:pt x="14314314" y="6060381"/>
                      <a:pt x="14115743" y="6060381"/>
                    </a:cubicBezTo>
                    <a:lnTo>
                      <a:pt x="359708" y="6060381"/>
                    </a:lnTo>
                    <a:cubicBezTo>
                      <a:pt x="161139" y="6060381"/>
                      <a:pt x="0" y="5956304"/>
                      <a:pt x="0" y="5827807"/>
                    </a:cubicBezTo>
                    <a:close/>
                  </a:path>
                </a:pathLst>
              </a:custGeom>
              <a:solidFill>
                <a:srgbClr val="4950BC">
                  <a:alpha val="19608"/>
                </a:srgbClr>
              </a:solidFill>
            </p:spPr>
          </p:sp>
        </p:grpSp>
      </p:grpSp>
      <p:grpSp>
        <p:nvGrpSpPr>
          <p:cNvPr id="11" name="Group 11"/>
          <p:cNvGrpSpPr/>
          <p:nvPr/>
        </p:nvGrpSpPr>
        <p:grpSpPr>
          <a:xfrm>
            <a:off x="432235" y="5817361"/>
            <a:ext cx="8019612" cy="2585855"/>
            <a:chOff x="0" y="0"/>
            <a:chExt cx="10692816" cy="3447807"/>
          </a:xfrm>
        </p:grpSpPr>
        <p:sp>
          <p:nvSpPr>
            <p:cNvPr id="12" name="TextBox 12"/>
            <p:cNvSpPr txBox="1"/>
            <p:nvPr/>
          </p:nvSpPr>
          <p:spPr>
            <a:xfrm>
              <a:off x="284963" y="25540"/>
              <a:ext cx="8917584" cy="6000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69"/>
                </a:lnSpc>
              </a:pPr>
              <a:r>
                <a:rPr lang="en-US" sz="2700" b="1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Random Forest Selected Because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84963" y="917906"/>
              <a:ext cx="10407853" cy="21645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30860" lvl="1" indent="-265430" algn="l">
                <a:lnSpc>
                  <a:spcPts val="3511"/>
                </a:lnSpc>
                <a:buFont typeface="Arial"/>
                <a:buChar char="•"/>
              </a:pPr>
              <a:r>
                <a:rPr lang="en-US" sz="2200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It classifies Low / Medium / High risk</a:t>
              </a:r>
            </a:p>
            <a:p>
              <a:pPr marL="530860" lvl="1" indent="-265430" algn="l">
                <a:lnSpc>
                  <a:spcPts val="3511"/>
                </a:lnSpc>
                <a:buFont typeface="Arial"/>
                <a:buChar char="•"/>
              </a:pPr>
              <a:r>
                <a:rPr lang="en-US" sz="2200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It handles non-linear relationships</a:t>
              </a:r>
            </a:p>
            <a:p>
              <a:pPr marL="530860" lvl="1" indent="-265430" algn="l">
                <a:lnSpc>
                  <a:spcPts val="3511"/>
                </a:lnSpc>
                <a:buFont typeface="Arial"/>
                <a:buChar char="•"/>
              </a:pPr>
              <a:r>
                <a:rPr lang="en-US" sz="2200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It provides feature importance</a:t>
              </a:r>
            </a:p>
          </p:txBody>
        </p:sp>
        <p:grpSp>
          <p:nvGrpSpPr>
            <p:cNvPr id="14" name="Group 14"/>
            <p:cNvGrpSpPr/>
            <p:nvPr/>
          </p:nvGrpSpPr>
          <p:grpSpPr>
            <a:xfrm>
              <a:off x="0" y="0"/>
              <a:ext cx="8233445" cy="3447807"/>
              <a:chOff x="0" y="0"/>
              <a:chExt cx="9817806" cy="4111268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9817734" cy="4111194"/>
              </a:xfrm>
              <a:custGeom>
                <a:avLst/>
                <a:gdLst/>
                <a:ahLst/>
                <a:cxnLst/>
                <a:rect l="l" t="t" r="r" b="b"/>
                <a:pathLst>
                  <a:path w="9817734" h="4111194">
                    <a:moveTo>
                      <a:pt x="0" y="231768"/>
                    </a:moveTo>
                    <a:cubicBezTo>
                      <a:pt x="0" y="103832"/>
                      <a:pt x="67088" y="0"/>
                      <a:pt x="149750" y="0"/>
                    </a:cubicBezTo>
                    <a:lnTo>
                      <a:pt x="9667984" y="0"/>
                    </a:lnTo>
                    <a:cubicBezTo>
                      <a:pt x="9750647" y="0"/>
                      <a:pt x="9817734" y="103832"/>
                      <a:pt x="9817734" y="231768"/>
                    </a:cubicBezTo>
                    <a:lnTo>
                      <a:pt x="9817734" y="3879426"/>
                    </a:lnTo>
                    <a:cubicBezTo>
                      <a:pt x="9817734" y="4007362"/>
                      <a:pt x="9750647" y="4111194"/>
                      <a:pt x="9667984" y="4111194"/>
                    </a:cubicBezTo>
                    <a:lnTo>
                      <a:pt x="149750" y="4111194"/>
                    </a:lnTo>
                    <a:cubicBezTo>
                      <a:pt x="67088" y="4111194"/>
                      <a:pt x="0" y="4007362"/>
                      <a:pt x="0" y="3879426"/>
                    </a:cubicBezTo>
                    <a:close/>
                  </a:path>
                </a:pathLst>
              </a:custGeom>
              <a:solidFill>
                <a:srgbClr val="FCF2B5">
                  <a:alpha val="19608"/>
                </a:srgbClr>
              </a:solidFill>
            </p:spPr>
          </p:sp>
        </p:grpSp>
      </p:grpSp>
      <p:sp>
        <p:nvSpPr>
          <p:cNvPr id="16" name="Freeform 16"/>
          <p:cNvSpPr/>
          <p:nvPr/>
        </p:nvSpPr>
        <p:spPr>
          <a:xfrm>
            <a:off x="7552130" y="1950871"/>
            <a:ext cx="9540279" cy="4114245"/>
          </a:xfrm>
          <a:custGeom>
            <a:avLst/>
            <a:gdLst/>
            <a:ahLst/>
            <a:cxnLst/>
            <a:rect l="l" t="t" r="r" b="b"/>
            <a:pathLst>
              <a:path w="9540279" h="4114245">
                <a:moveTo>
                  <a:pt x="0" y="0"/>
                </a:moveTo>
                <a:lnTo>
                  <a:pt x="9540279" y="0"/>
                </a:lnTo>
                <a:lnTo>
                  <a:pt x="9540279" y="4114245"/>
                </a:lnTo>
                <a:lnTo>
                  <a:pt x="0" y="41142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7524645" y="5873823"/>
            <a:ext cx="7506306" cy="4109702"/>
          </a:xfrm>
          <a:custGeom>
            <a:avLst/>
            <a:gdLst/>
            <a:ahLst/>
            <a:cxnLst/>
            <a:rect l="l" t="t" r="r" b="b"/>
            <a:pathLst>
              <a:path w="7506306" h="4109702">
                <a:moveTo>
                  <a:pt x="0" y="0"/>
                </a:moveTo>
                <a:lnTo>
                  <a:pt x="7506306" y="0"/>
                </a:lnTo>
                <a:lnTo>
                  <a:pt x="7506306" y="4109702"/>
                </a:lnTo>
                <a:lnTo>
                  <a:pt x="0" y="41097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645957" y="422592"/>
            <a:ext cx="9559976" cy="90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EDA and Model Selection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37842" y="1222844"/>
            <a:ext cx="17217923" cy="1154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87"/>
              </a:lnSpc>
            </a:pPr>
            <a:r>
              <a:rPr lang="en-US" sz="2999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EDA checked the data structure before modelling, then Random Forest was used for risk classification.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240059" y="2772074"/>
            <a:ext cx="9428559" cy="7696783"/>
          </a:xfrm>
          <a:custGeom>
            <a:avLst/>
            <a:gdLst/>
            <a:ahLst/>
            <a:cxnLst/>
            <a:rect l="l" t="t" r="r" b="b"/>
            <a:pathLst>
              <a:path w="9428559" h="7696783">
                <a:moveTo>
                  <a:pt x="0" y="0"/>
                </a:moveTo>
                <a:lnTo>
                  <a:pt x="9428559" y="0"/>
                </a:lnTo>
                <a:lnTo>
                  <a:pt x="9428559" y="7696783"/>
                </a:lnTo>
                <a:lnTo>
                  <a:pt x="0" y="76967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992238" y="834327"/>
            <a:ext cx="15672349" cy="90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Model Performance and Critical Evaluation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0813" y="1932349"/>
            <a:ext cx="17217923" cy="553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87"/>
              </a:lnSpc>
            </a:pPr>
            <a:r>
              <a:rPr lang="en-US" sz="2999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The result shows useful signal, but accuracy alone is not enough.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499406" y="3697043"/>
            <a:ext cx="2689622" cy="457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3"/>
              </a:lnSpc>
            </a:pPr>
            <a:r>
              <a:rPr lang="en-US" sz="2999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Test Accuracy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499406" y="4243835"/>
            <a:ext cx="8002638" cy="90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 b="1">
                <a:solidFill>
                  <a:srgbClr val="8B1E2D"/>
                </a:solidFill>
                <a:latin typeface="Inter Bold"/>
                <a:ea typeface="Inter Bold"/>
                <a:cs typeface="Inter Bold"/>
                <a:sym typeface="Inter Bold"/>
              </a:rPr>
              <a:t>68.48%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499406" y="5346649"/>
            <a:ext cx="7805890" cy="969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89"/>
              </a:lnSpc>
            </a:pPr>
            <a:r>
              <a:rPr lang="en-US" sz="2499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Useful proof-of-concept signal, but not deployment-ready without real CEB operational data.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9499406" y="7222443"/>
            <a:ext cx="7958290" cy="2264416"/>
            <a:chOff x="0" y="0"/>
            <a:chExt cx="10611053" cy="3019222"/>
          </a:xfrm>
        </p:grpSpPr>
        <p:grpSp>
          <p:nvGrpSpPr>
            <p:cNvPr id="13" name="Group 13"/>
            <p:cNvGrpSpPr/>
            <p:nvPr/>
          </p:nvGrpSpPr>
          <p:grpSpPr>
            <a:xfrm>
              <a:off x="203200" y="203200"/>
              <a:ext cx="10407853" cy="2816022"/>
              <a:chOff x="0" y="0"/>
              <a:chExt cx="10407853" cy="2816022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0407777" cy="2815971"/>
              </a:xfrm>
              <a:custGeom>
                <a:avLst/>
                <a:gdLst/>
                <a:ahLst/>
                <a:cxnLst/>
                <a:rect l="l" t="t" r="r" b="b"/>
                <a:pathLst>
                  <a:path w="10407777" h="2815971">
                    <a:moveTo>
                      <a:pt x="0" y="158750"/>
                    </a:moveTo>
                    <a:cubicBezTo>
                      <a:pt x="0" y="71120"/>
                      <a:pt x="71120" y="0"/>
                      <a:pt x="158750" y="0"/>
                    </a:cubicBezTo>
                    <a:lnTo>
                      <a:pt x="10249027" y="0"/>
                    </a:lnTo>
                    <a:cubicBezTo>
                      <a:pt x="10336657" y="0"/>
                      <a:pt x="10407777" y="71120"/>
                      <a:pt x="10407777" y="158750"/>
                    </a:cubicBezTo>
                    <a:lnTo>
                      <a:pt x="10407777" y="2657221"/>
                    </a:lnTo>
                    <a:cubicBezTo>
                      <a:pt x="10407777" y="2744851"/>
                      <a:pt x="10336657" y="2815971"/>
                      <a:pt x="10249027" y="2815971"/>
                    </a:cubicBezTo>
                    <a:lnTo>
                      <a:pt x="158750" y="2815971"/>
                    </a:lnTo>
                    <a:cubicBezTo>
                      <a:pt x="71120" y="2815971"/>
                      <a:pt x="0" y="2744851"/>
                      <a:pt x="0" y="2657221"/>
                    </a:cubicBezTo>
                    <a:close/>
                  </a:path>
                </a:pathLst>
              </a:custGeom>
              <a:solidFill>
                <a:srgbClr val="FCF2B5"/>
              </a:solidFill>
            </p:spPr>
          </p:sp>
        </p:grpSp>
        <p:grpSp>
          <p:nvGrpSpPr>
            <p:cNvPr id="15" name="Group 15"/>
            <p:cNvGrpSpPr/>
            <p:nvPr/>
          </p:nvGrpSpPr>
          <p:grpSpPr>
            <a:xfrm>
              <a:off x="0" y="0"/>
              <a:ext cx="10407853" cy="2816022"/>
              <a:chOff x="0" y="0"/>
              <a:chExt cx="10407853" cy="2816022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10407777" cy="2815971"/>
              </a:xfrm>
              <a:custGeom>
                <a:avLst/>
                <a:gdLst/>
                <a:ahLst/>
                <a:cxnLst/>
                <a:rect l="l" t="t" r="r" b="b"/>
                <a:pathLst>
                  <a:path w="10407777" h="2815971">
                    <a:moveTo>
                      <a:pt x="0" y="158750"/>
                    </a:moveTo>
                    <a:cubicBezTo>
                      <a:pt x="0" y="71120"/>
                      <a:pt x="71120" y="0"/>
                      <a:pt x="158750" y="0"/>
                    </a:cubicBezTo>
                    <a:lnTo>
                      <a:pt x="10249027" y="0"/>
                    </a:lnTo>
                    <a:cubicBezTo>
                      <a:pt x="10336657" y="0"/>
                      <a:pt x="10407777" y="71120"/>
                      <a:pt x="10407777" y="158750"/>
                    </a:cubicBezTo>
                    <a:lnTo>
                      <a:pt x="10407777" y="2657221"/>
                    </a:lnTo>
                    <a:cubicBezTo>
                      <a:pt x="10407777" y="2744851"/>
                      <a:pt x="10336657" y="2815971"/>
                      <a:pt x="10249027" y="2815971"/>
                    </a:cubicBezTo>
                    <a:lnTo>
                      <a:pt x="158750" y="2815971"/>
                    </a:lnTo>
                    <a:cubicBezTo>
                      <a:pt x="71120" y="2815971"/>
                      <a:pt x="0" y="2744851"/>
                      <a:pt x="0" y="2657221"/>
                    </a:cubicBezTo>
                    <a:close/>
                  </a:path>
                </a:pathLst>
              </a:custGeom>
              <a:solidFill>
                <a:srgbClr val="FCF2B5"/>
              </a:solidFill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803275" y="415029"/>
              <a:ext cx="8801302" cy="17356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42900" indent="-342900" algn="l">
                <a:lnSpc>
                  <a:spcPts val="3511"/>
                </a:lnSpc>
                <a:buFont typeface="Arial" panose="020B0604020202020204" pitchFamily="34" charset="0"/>
                <a:buChar char="•"/>
              </a:pPr>
              <a:r>
                <a:rPr lang="en-US" sz="2200" dirty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Missing a high-risk day is more serious than a false alert, so high-risk recall should be improved first.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5946277" cy="10287000"/>
            <a:chOff x="0" y="0"/>
            <a:chExt cx="7928369" cy="13716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928369" cy="13716000"/>
            </a:xfrm>
            <a:custGeom>
              <a:avLst/>
              <a:gdLst/>
              <a:ahLst/>
              <a:cxnLst/>
              <a:rect l="l" t="t" r="r" b="b"/>
              <a:pathLst>
                <a:path w="7928369" h="13716000">
                  <a:moveTo>
                    <a:pt x="0" y="0"/>
                  </a:moveTo>
                  <a:lnTo>
                    <a:pt x="7928369" y="0"/>
                  </a:lnTo>
                  <a:lnTo>
                    <a:pt x="7928369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ADBF1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09428" y="0"/>
            <a:ext cx="5946277" cy="10287000"/>
            <a:chOff x="0" y="0"/>
            <a:chExt cx="7636561" cy="1321117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636561" cy="13211175"/>
            </a:xfrm>
            <a:custGeom>
              <a:avLst/>
              <a:gdLst/>
              <a:ahLst/>
              <a:cxnLst/>
              <a:rect l="l" t="t" r="r" b="b"/>
              <a:pathLst>
                <a:path w="7636561" h="13211175">
                  <a:moveTo>
                    <a:pt x="0" y="0"/>
                  </a:moveTo>
                  <a:lnTo>
                    <a:pt x="7636561" y="0"/>
                  </a:lnTo>
                  <a:lnTo>
                    <a:pt x="7636561" y="13211175"/>
                  </a:lnTo>
                  <a:lnTo>
                    <a:pt x="0" y="132111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381" b="-1381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6713039" y="718842"/>
            <a:ext cx="8710165" cy="817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15"/>
              </a:lnSpc>
            </a:pPr>
            <a:r>
              <a:rPr lang="en-US" sz="49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Recommended Next Step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713039" y="1531439"/>
            <a:ext cx="10546261" cy="443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499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Start with a controlled decision-support pilot dashboard.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6708277" y="2503884"/>
            <a:ext cx="4728267" cy="2826096"/>
            <a:chOff x="0" y="0"/>
            <a:chExt cx="6304356" cy="3768128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6304356" cy="3768128"/>
              <a:chOff x="0" y="0"/>
              <a:chExt cx="6304356" cy="3768128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6304280" cy="3768090"/>
              </a:xfrm>
              <a:custGeom>
                <a:avLst/>
                <a:gdLst/>
                <a:ahLst/>
                <a:cxnLst/>
                <a:rect l="l" t="t" r="r" b="b"/>
                <a:pathLst>
                  <a:path w="6304280" h="3768090">
                    <a:moveTo>
                      <a:pt x="0" y="141859"/>
                    </a:moveTo>
                    <a:cubicBezTo>
                      <a:pt x="0" y="63500"/>
                      <a:pt x="63500" y="0"/>
                      <a:pt x="141859" y="0"/>
                    </a:cubicBezTo>
                    <a:lnTo>
                      <a:pt x="6162421" y="0"/>
                    </a:lnTo>
                    <a:cubicBezTo>
                      <a:pt x="6240780" y="0"/>
                      <a:pt x="6304280" y="63500"/>
                      <a:pt x="6304280" y="141859"/>
                    </a:cubicBezTo>
                    <a:lnTo>
                      <a:pt x="6304280" y="3626231"/>
                    </a:lnTo>
                    <a:cubicBezTo>
                      <a:pt x="6304280" y="3704590"/>
                      <a:pt x="6240780" y="3768090"/>
                      <a:pt x="6162421" y="3768090"/>
                    </a:cubicBezTo>
                    <a:lnTo>
                      <a:pt x="141859" y="3768090"/>
                    </a:lnTo>
                    <a:cubicBezTo>
                      <a:pt x="63500" y="3768090"/>
                      <a:pt x="0" y="3704590"/>
                      <a:pt x="0" y="3626231"/>
                    </a:cubicBezTo>
                    <a:close/>
                  </a:path>
                </a:pathLst>
              </a:custGeom>
              <a:solidFill>
                <a:srgbClr val="8B1E2D"/>
              </a:solidFill>
              <a:ln w="9526" cap="sq">
                <a:solidFill>
                  <a:srgbClr val="A43746"/>
                </a:solidFill>
                <a:prstDash val="solid"/>
                <a:miter/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355600" y="346075"/>
              <a:ext cx="4208666" cy="5355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95"/>
                </a:lnSpc>
              </a:pPr>
              <a:r>
                <a:rPr lang="en-US" sz="2400" b="1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Feasibility Score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55600" y="1004291"/>
              <a:ext cx="5593156" cy="5663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72"/>
                </a:lnSpc>
              </a:pPr>
              <a:r>
                <a:rPr lang="en-US" sz="1900" b="1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4.00 / 5.00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1651904" y="2503884"/>
            <a:ext cx="4728420" cy="2826096"/>
            <a:chOff x="0" y="0"/>
            <a:chExt cx="6304559" cy="3768128"/>
          </a:xfrm>
        </p:grpSpPr>
        <p:grpSp>
          <p:nvGrpSpPr>
            <p:cNvPr id="18" name="Group 18"/>
            <p:cNvGrpSpPr/>
            <p:nvPr/>
          </p:nvGrpSpPr>
          <p:grpSpPr>
            <a:xfrm>
              <a:off x="0" y="0"/>
              <a:ext cx="6304559" cy="3768128"/>
              <a:chOff x="0" y="0"/>
              <a:chExt cx="6304559" cy="3768128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6304534" cy="3768090"/>
              </a:xfrm>
              <a:custGeom>
                <a:avLst/>
                <a:gdLst/>
                <a:ahLst/>
                <a:cxnLst/>
                <a:rect l="l" t="t" r="r" b="b"/>
                <a:pathLst>
                  <a:path w="6304534" h="3768090">
                    <a:moveTo>
                      <a:pt x="0" y="141859"/>
                    </a:moveTo>
                    <a:cubicBezTo>
                      <a:pt x="0" y="63500"/>
                      <a:pt x="63500" y="0"/>
                      <a:pt x="141859" y="0"/>
                    </a:cubicBezTo>
                    <a:lnTo>
                      <a:pt x="6162675" y="0"/>
                    </a:lnTo>
                    <a:cubicBezTo>
                      <a:pt x="6241034" y="0"/>
                      <a:pt x="6304534" y="63500"/>
                      <a:pt x="6304534" y="141859"/>
                    </a:cubicBezTo>
                    <a:lnTo>
                      <a:pt x="6304534" y="3626231"/>
                    </a:lnTo>
                    <a:cubicBezTo>
                      <a:pt x="6304534" y="3704590"/>
                      <a:pt x="6241034" y="3768090"/>
                      <a:pt x="6162675" y="3768090"/>
                    </a:cubicBezTo>
                    <a:lnTo>
                      <a:pt x="141859" y="3768090"/>
                    </a:lnTo>
                    <a:cubicBezTo>
                      <a:pt x="63500" y="3768090"/>
                      <a:pt x="0" y="3704590"/>
                      <a:pt x="0" y="3626231"/>
                    </a:cubicBezTo>
                    <a:close/>
                  </a:path>
                </a:pathLst>
              </a:custGeom>
              <a:solidFill>
                <a:srgbClr val="8B1E2D"/>
              </a:solidFill>
              <a:ln w="9526" cap="sq">
                <a:solidFill>
                  <a:srgbClr val="A43746"/>
                </a:solidFill>
                <a:prstDash val="solid"/>
                <a:miter/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355600" y="346075"/>
              <a:ext cx="5026419" cy="5355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95"/>
                </a:lnSpc>
              </a:pPr>
              <a:r>
                <a:rPr lang="en-US" sz="2400" b="1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Dashboard Should Show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55600" y="1004291"/>
              <a:ext cx="5593359" cy="24082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58470" lvl="1" indent="-229235" algn="l">
                <a:lnSpc>
                  <a:spcPts val="2872"/>
                </a:lnSpc>
                <a:buFont typeface="Arial"/>
                <a:buChar char="•"/>
              </a:pPr>
              <a:r>
                <a:rPr lang="en-US" sz="19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Peak-risk level</a:t>
              </a:r>
            </a:p>
            <a:p>
              <a:pPr marL="458470" lvl="1" indent="-229235" algn="l">
                <a:lnSpc>
                  <a:spcPts val="2872"/>
                </a:lnSpc>
                <a:buFont typeface="Arial"/>
                <a:buChar char="•"/>
              </a:pPr>
              <a:r>
                <a:rPr lang="en-US" sz="19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Confidence</a:t>
              </a:r>
            </a:p>
            <a:p>
              <a:pPr marL="458470" lvl="1" indent="-229235" algn="l">
                <a:lnSpc>
                  <a:spcPts val="2872"/>
                </a:lnSpc>
                <a:buFont typeface="Arial"/>
                <a:buChar char="•"/>
              </a:pPr>
              <a:r>
                <a:rPr lang="en-US" sz="19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Top drivers</a:t>
              </a:r>
            </a:p>
            <a:p>
              <a:pPr marL="458470" lvl="1" indent="-229235" algn="l">
                <a:lnSpc>
                  <a:spcPts val="2872"/>
                </a:lnSpc>
                <a:buFont typeface="Arial"/>
                <a:buChar char="•"/>
              </a:pPr>
              <a:r>
                <a:rPr lang="en-US" sz="19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Suggested planning actions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708277" y="5545331"/>
            <a:ext cx="9672047" cy="2365619"/>
            <a:chOff x="0" y="0"/>
            <a:chExt cx="12896063" cy="3154159"/>
          </a:xfrm>
        </p:grpSpPr>
        <p:grpSp>
          <p:nvGrpSpPr>
            <p:cNvPr id="23" name="Group 23"/>
            <p:cNvGrpSpPr/>
            <p:nvPr/>
          </p:nvGrpSpPr>
          <p:grpSpPr>
            <a:xfrm>
              <a:off x="0" y="0"/>
              <a:ext cx="12896063" cy="3154159"/>
              <a:chOff x="0" y="0"/>
              <a:chExt cx="12896063" cy="3154159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12896088" cy="3154172"/>
              </a:xfrm>
              <a:custGeom>
                <a:avLst/>
                <a:gdLst/>
                <a:ahLst/>
                <a:cxnLst/>
                <a:rect l="l" t="t" r="r" b="b"/>
                <a:pathLst>
                  <a:path w="12896088" h="3154172">
                    <a:moveTo>
                      <a:pt x="0" y="141986"/>
                    </a:moveTo>
                    <a:cubicBezTo>
                      <a:pt x="0" y="63627"/>
                      <a:pt x="63627" y="0"/>
                      <a:pt x="141986" y="0"/>
                    </a:cubicBezTo>
                    <a:lnTo>
                      <a:pt x="12754102" y="0"/>
                    </a:lnTo>
                    <a:cubicBezTo>
                      <a:pt x="12832588" y="0"/>
                      <a:pt x="12896088" y="63627"/>
                      <a:pt x="12896088" y="141986"/>
                    </a:cubicBezTo>
                    <a:lnTo>
                      <a:pt x="12896088" y="3012186"/>
                    </a:lnTo>
                    <a:cubicBezTo>
                      <a:pt x="12896088" y="3090672"/>
                      <a:pt x="12832461" y="3154172"/>
                      <a:pt x="12754102" y="3154172"/>
                    </a:cubicBezTo>
                    <a:lnTo>
                      <a:pt x="141986" y="3154172"/>
                    </a:lnTo>
                    <a:cubicBezTo>
                      <a:pt x="63627" y="3154172"/>
                      <a:pt x="0" y="3090545"/>
                      <a:pt x="0" y="3012186"/>
                    </a:cubicBezTo>
                    <a:close/>
                  </a:path>
                </a:pathLst>
              </a:custGeom>
              <a:solidFill>
                <a:srgbClr val="8B1E2D"/>
              </a:solidFill>
              <a:ln w="9526" cap="sq">
                <a:solidFill>
                  <a:srgbClr val="A43746"/>
                </a:solidFill>
                <a:prstDash val="solid"/>
                <a:miter/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355600" y="346088"/>
              <a:ext cx="4208666" cy="5355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95"/>
                </a:lnSpc>
              </a:pPr>
              <a:r>
                <a:rPr lang="en-US" sz="2400" b="1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Suggested Actions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55600" y="1004303"/>
              <a:ext cx="12184850" cy="17942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58470" lvl="1" indent="-229235" algn="l">
                <a:lnSpc>
                  <a:spcPts val="2872"/>
                </a:lnSpc>
                <a:buFont typeface="Arial"/>
                <a:buChar char="•"/>
              </a:pPr>
              <a:r>
                <a:rPr lang="en-US" sz="19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Review generation readiness</a:t>
              </a:r>
            </a:p>
            <a:p>
              <a:pPr marL="458470" lvl="1" indent="-229235" algn="l">
                <a:lnSpc>
                  <a:spcPts val="2872"/>
                </a:lnSpc>
                <a:buFont typeface="Arial"/>
                <a:buChar char="•"/>
              </a:pPr>
              <a:r>
                <a:rPr lang="en-US" sz="19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Check renewable balancing</a:t>
              </a:r>
            </a:p>
            <a:p>
              <a:pPr marL="458470" lvl="1" indent="-229235" algn="l">
                <a:lnSpc>
                  <a:spcPts val="2872"/>
                </a:lnSpc>
                <a:buFont typeface="Arial"/>
                <a:buChar char="•"/>
              </a:pPr>
              <a:r>
                <a:rPr lang="en-US" sz="19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Prepare demand-response options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713039" y="8159201"/>
            <a:ext cx="9662522" cy="1380382"/>
            <a:chOff x="0" y="0"/>
            <a:chExt cx="12883363" cy="1840509"/>
          </a:xfrm>
        </p:grpSpPr>
        <p:grpSp>
          <p:nvGrpSpPr>
            <p:cNvPr id="28" name="Group 28"/>
            <p:cNvGrpSpPr/>
            <p:nvPr/>
          </p:nvGrpSpPr>
          <p:grpSpPr>
            <a:xfrm>
              <a:off x="0" y="0"/>
              <a:ext cx="12883363" cy="1840509"/>
              <a:chOff x="0" y="0"/>
              <a:chExt cx="12883363" cy="1840509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12883261" cy="1840484"/>
              </a:xfrm>
              <a:custGeom>
                <a:avLst/>
                <a:gdLst/>
                <a:ahLst/>
                <a:cxnLst/>
                <a:rect l="l" t="t" r="r" b="b"/>
                <a:pathLst>
                  <a:path w="12883261" h="1840484">
                    <a:moveTo>
                      <a:pt x="0" y="141351"/>
                    </a:moveTo>
                    <a:cubicBezTo>
                      <a:pt x="0" y="63373"/>
                      <a:pt x="63373" y="0"/>
                      <a:pt x="141351" y="0"/>
                    </a:cubicBezTo>
                    <a:lnTo>
                      <a:pt x="12741910" y="0"/>
                    </a:lnTo>
                    <a:cubicBezTo>
                      <a:pt x="12820015" y="0"/>
                      <a:pt x="12883261" y="63373"/>
                      <a:pt x="12883261" y="141351"/>
                    </a:cubicBezTo>
                    <a:lnTo>
                      <a:pt x="12883261" y="1699133"/>
                    </a:lnTo>
                    <a:cubicBezTo>
                      <a:pt x="12883261" y="1777238"/>
                      <a:pt x="12819888" y="1840484"/>
                      <a:pt x="12741910" y="1840484"/>
                    </a:cubicBezTo>
                    <a:lnTo>
                      <a:pt x="141351" y="1840484"/>
                    </a:lnTo>
                    <a:cubicBezTo>
                      <a:pt x="63373" y="1840484"/>
                      <a:pt x="0" y="1777238"/>
                      <a:pt x="0" y="1699133"/>
                    </a:cubicBezTo>
                    <a:close/>
                  </a:path>
                </a:pathLst>
              </a:custGeom>
              <a:solidFill>
                <a:srgbClr val="FFF4C2"/>
              </a:solidFill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858647" y="430695"/>
              <a:ext cx="11453012" cy="9219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72"/>
                </a:lnSpc>
              </a:pPr>
              <a:r>
                <a:rPr lang="en-US" sz="1900" b="1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Final takeaway:</a:t>
              </a:r>
              <a:r>
                <a:rPr lang="en-US" sz="19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 Decision analytics should support CEB planners, not replace engineering judgement.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6858000" cy="10287000"/>
            <a:chOff x="0" y="0"/>
            <a:chExt cx="9144000" cy="13716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ADBF1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0" y="0"/>
            <a:ext cx="8319707" cy="10287000"/>
            <a:chOff x="0" y="0"/>
            <a:chExt cx="10634588" cy="1314926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634588" cy="13149199"/>
            </a:xfrm>
            <a:custGeom>
              <a:avLst/>
              <a:gdLst/>
              <a:ahLst/>
              <a:cxnLst/>
              <a:rect l="l" t="t" r="r" b="b"/>
              <a:pathLst>
                <a:path w="10634588" h="13149199">
                  <a:moveTo>
                    <a:pt x="0" y="0"/>
                  </a:moveTo>
                  <a:lnTo>
                    <a:pt x="10634588" y="0"/>
                  </a:lnTo>
                  <a:lnTo>
                    <a:pt x="10634588" y="13149199"/>
                  </a:lnTo>
                  <a:lnTo>
                    <a:pt x="0" y="131491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0808" r="-44660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8680856" y="1754238"/>
            <a:ext cx="9445523" cy="3562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Peak Demand Risk Forecasting and Generation Planning Support for CEB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680856" y="5647134"/>
            <a:ext cx="9445523" cy="2251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49"/>
              </a:lnSpc>
            </a:pPr>
            <a:r>
              <a:rPr lang="en-US" sz="2599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Decision Analytics Case Study</a:t>
            </a:r>
          </a:p>
          <a:p>
            <a:pPr algn="l">
              <a:lnSpc>
                <a:spcPts val="3511"/>
              </a:lnSpc>
            </a:pPr>
            <a:r>
              <a:rPr lang="en-US" sz="22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Ceylon Electricity Board, Sri Lanka</a:t>
            </a:r>
          </a:p>
          <a:p>
            <a:pPr algn="l">
              <a:lnSpc>
                <a:spcPts val="3511"/>
              </a:lnSpc>
            </a:pPr>
            <a:endParaRPr lang="en-US" sz="2200" b="1">
              <a:solidFill>
                <a:srgbClr val="272525"/>
              </a:solidFill>
              <a:latin typeface="Inter Bold"/>
              <a:ea typeface="Inter Bold"/>
              <a:cs typeface="Inter Bold"/>
              <a:sym typeface="Inter Bold"/>
            </a:endParaRPr>
          </a:p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Nathumini Pramuditha Jayathilake </a:t>
            </a:r>
          </a:p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CB012526</a:t>
            </a:r>
          </a:p>
        </p:txBody>
      </p:sp>
    </p:spTree>
    <p:extLst>
      <p:ext uri="{BB962C8B-B14F-4D97-AF65-F5344CB8AC3E}">
        <p14:creationId xmlns:p14="http://schemas.microsoft.com/office/powerpoint/2010/main" val="22708133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35492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4070</Words>
  <Application>Microsoft Office PowerPoint</Application>
  <PresentationFormat>Custom</PresentationFormat>
  <Paragraphs>430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Inter Bold</vt:lpstr>
      <vt:lpstr>Inter</vt:lpstr>
      <vt:lpstr>Calibri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Peak-Demand-Risk-Forecasting-and-Generation-Planning-Support-for-CEB.pptx</dc:title>
  <cp:lastModifiedBy>Nathumini Jayathilake</cp:lastModifiedBy>
  <cp:revision>12</cp:revision>
  <dcterms:created xsi:type="dcterms:W3CDTF">2006-08-16T00:00:00Z</dcterms:created>
  <dcterms:modified xsi:type="dcterms:W3CDTF">2026-06-12T05:27:20Z</dcterms:modified>
  <dc:identifier>DAHLoVQVmiM</dc:identifier>
</cp:coreProperties>
</file>